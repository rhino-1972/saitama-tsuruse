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85" r:id="rId6"/>
    <p:sldId id="264" r:id="rId7"/>
    <p:sldId id="265" r:id="rId8"/>
    <p:sldId id="266" r:id="rId9"/>
    <p:sldId id="267" r:id="rId10"/>
    <p:sldId id="268" r:id="rId11"/>
    <p:sldId id="269" r:id="rId12"/>
    <p:sldId id="263" r:id="rId13"/>
    <p:sldId id="270" r:id="rId14"/>
    <p:sldId id="271" r:id="rId15"/>
    <p:sldId id="272" r:id="rId16"/>
    <p:sldId id="273" r:id="rId17"/>
    <p:sldId id="274" r:id="rId18"/>
    <p:sldId id="275" r:id="rId19"/>
    <p:sldId id="261" r:id="rId20"/>
    <p:sldId id="276" r:id="rId21"/>
    <p:sldId id="277" r:id="rId22"/>
    <p:sldId id="278" r:id="rId23"/>
    <p:sldId id="262" r:id="rId24"/>
    <p:sldId id="279" r:id="rId25"/>
    <p:sldId id="280" r:id="rId26"/>
    <p:sldId id="281" r:id="rId27"/>
    <p:sldId id="282" r:id="rId28"/>
    <p:sldId id="283" r:id="rId29"/>
    <p:sldId id="284"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32"/>
    <p:restoredTop sz="94641"/>
  </p:normalViewPr>
  <p:slideViewPr>
    <p:cSldViewPr snapToGrid="0">
      <p:cViewPr varScale="1">
        <p:scale>
          <a:sx n="153" d="100"/>
          <a:sy n="153" d="100"/>
        </p:scale>
        <p:origin x="192" y="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437F4-158E-7F3B-176F-05B8CF8B1D3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03337F7-653C-0E6A-9C0A-8660EE547D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3447CF-85B2-C8AC-6580-63D79DF0828A}"/>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82808747-BDFF-B5CD-8424-57472BFD23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8E0D5C-647A-07AD-9246-3FA0659B9306}"/>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701699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5EB2F1-5EAD-8524-9E19-9ABCE6A1FF1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12D2B6-C3A2-7779-F829-658FD8D0206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E8E1EF-6D52-F93B-BEE4-4F355C541702}"/>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7AEF4151-C82E-CA41-A2A2-58CE6519A5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028DEF-AC40-7D75-FE67-7FA1E246CE75}"/>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308397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10A0D8-DE15-4250-4127-D87B772FEB9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BF8DCD-A9D8-2F7A-2D51-EB43AF6075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57D7ECB-BDC5-CADE-1CBE-A8587E13DFF2}"/>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77382CDA-3A32-D449-0A84-2A83F1254E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0F5458-9EFE-1BAD-748E-B0F69360F0D5}"/>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60740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328D57-4FE7-5369-4603-06521E2FBE2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364CE82-D0EE-21FF-00CF-F46B0A6507C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B2DBB15-6F83-C443-06F3-2A29989197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95CEB9D-10A3-1ED3-6BD7-1A36A337E4A8}"/>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56D43508-DA01-996B-EA2F-08413A71241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5B1F55A-1C3A-9FFA-203E-A5A26764115F}"/>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3971387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DAB036-CECB-4736-5DAA-F74FB79EC03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54B8C04-B3FE-9124-1085-30FBE3519E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9ACBCB-83DD-7752-662F-91C7C8B1723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5743E5B-78A0-D556-EA34-444D065B2C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5F2DED4-2C5B-BD54-8EEC-7AA63FBB5D6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C89F8F5-78FB-BDD7-2A08-EAF11012EDCC}"/>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8" name="フッター プレースホルダー 7">
            <a:extLst>
              <a:ext uri="{FF2B5EF4-FFF2-40B4-BE49-F238E27FC236}">
                <a16:creationId xmlns:a16="http://schemas.microsoft.com/office/drawing/2014/main" id="{8129ADCA-8DC7-3863-FB56-1AEAEABD6C6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2DACC6D-20F0-4103-7822-88119685825E}"/>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564615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1279B1-A97A-ABB3-8D04-9BEA21F1B97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A570A82-AAFA-DC97-BB34-DC62DC45C8D4}"/>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4" name="フッター プレースホルダー 3">
            <a:extLst>
              <a:ext uri="{FF2B5EF4-FFF2-40B4-BE49-F238E27FC236}">
                <a16:creationId xmlns:a16="http://schemas.microsoft.com/office/drawing/2014/main" id="{511D9639-7EEA-2F55-9979-86ACCE204D8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C11B0B3-8557-BAAE-8888-FE76E06FA20E}"/>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1929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E472E32-200A-727F-141D-556234F2F618}"/>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3" name="フッター プレースホルダー 2">
            <a:extLst>
              <a:ext uri="{FF2B5EF4-FFF2-40B4-BE49-F238E27FC236}">
                <a16:creationId xmlns:a16="http://schemas.microsoft.com/office/drawing/2014/main" id="{18D91EEA-1A51-496F-001E-B96AAE83752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4DE8E6B-B9EE-0403-A380-5184A1DD02CC}"/>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409058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4BE304-8529-390D-EF34-4109F198959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7AFC5-55F2-6E6C-D046-8F99BA94B1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1E1BF27-AAEE-5C5F-F708-E0B1D1728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ADD629D-8A71-C870-20C0-23EA043E0161}"/>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89D3DBDC-3754-EA72-332A-FB39A817ED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46ADF60-24C1-0219-0F30-38609DCCFA03}"/>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2266713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9849C1-6B18-C889-D42E-63A311644C4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78E396B-4C3F-7CC4-8F73-17F9F7BFC52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A30C3EA-70BD-C10E-6A90-B23EA1AD9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31D606B-9A26-B54D-A16B-6CE2F6FFB93B}"/>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6" name="フッター プレースホルダー 5">
            <a:extLst>
              <a:ext uri="{FF2B5EF4-FFF2-40B4-BE49-F238E27FC236}">
                <a16:creationId xmlns:a16="http://schemas.microsoft.com/office/drawing/2014/main" id="{4107BB9F-8936-3BCC-0F9A-5A3DE2AF52B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17F9161-6CE1-F000-1D3E-B2C8D83A0296}"/>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1877994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4ECA0C-08E6-296A-E290-893DE24A8F2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85C58A-3C4C-35F7-4729-07CA76455F9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4504A63-66AF-536E-2539-C81DEE14BE04}"/>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8D1E6168-4B3A-470E-CD16-72A9E86081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AFAAEF-2903-58F2-4996-680EFE2FCBDB}"/>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3077775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563129-F261-BA24-1AD9-9232BE2FDB4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6C311A2-590A-CD47-3AFC-25E4FD60A62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21F31C0-974D-8AD7-41C6-B6439A0B7B1A}"/>
              </a:ext>
            </a:extLst>
          </p:cNvPr>
          <p:cNvSpPr>
            <a:spLocks noGrp="1"/>
          </p:cNvSpPr>
          <p:nvPr>
            <p:ph type="dt" sz="half" idx="10"/>
          </p:nvPr>
        </p:nvSpPr>
        <p:spPr/>
        <p:txBody>
          <a:body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4C9C6705-1E03-6896-5F1E-D99A8A368A7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B290F7-EE61-E06F-6980-51D4A86CEA63}"/>
              </a:ext>
            </a:extLst>
          </p:cNvPr>
          <p:cNvSpPr>
            <a:spLocks noGrp="1"/>
          </p:cNvSpPr>
          <p:nvPr>
            <p:ph type="sldNum" sz="quarter" idx="12"/>
          </p:nvPr>
        </p:nvSpPr>
        <p:spPr/>
        <p:txBody>
          <a:body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49263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547902B-F7EC-AE50-BECE-5D7096D533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092A38-1284-EE40-7D64-FD05665E9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A16414-1A02-8ED9-016C-9F1A2772A7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AF9328-B08A-9440-B0A9-EC8B2CCA3199}" type="datetimeFigureOut">
              <a:rPr kumimoji="1" lang="ja-JP" altLang="en-US" smtClean="0"/>
              <a:t>2026/9/25</a:t>
            </a:fld>
            <a:endParaRPr kumimoji="1" lang="ja-JP" altLang="en-US"/>
          </a:p>
        </p:txBody>
      </p:sp>
      <p:sp>
        <p:nvSpPr>
          <p:cNvPr id="5" name="フッター プレースホルダー 4">
            <a:extLst>
              <a:ext uri="{FF2B5EF4-FFF2-40B4-BE49-F238E27FC236}">
                <a16:creationId xmlns:a16="http://schemas.microsoft.com/office/drawing/2014/main" id="{72F342E3-8B5D-2ADF-888C-F6B67ED965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FCD09E0-7217-055F-7F7B-367EEF8553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AA5FC2-A233-C540-A487-7BE79E9DAB9E}" type="slidenum">
              <a:rPr kumimoji="1" lang="ja-JP" altLang="en-US" smtClean="0"/>
              <a:t>‹#›</a:t>
            </a:fld>
            <a:endParaRPr kumimoji="1" lang="ja-JP" altLang="en-US"/>
          </a:p>
        </p:txBody>
      </p:sp>
    </p:spTree>
    <p:extLst>
      <p:ext uri="{BB962C8B-B14F-4D97-AF65-F5344CB8AC3E}">
        <p14:creationId xmlns:p14="http://schemas.microsoft.com/office/powerpoint/2010/main" val="3033795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shorinjikempo.dream-times.net/wp-admin/network/site-info.php?id=2" TargetMode="External"/><Relationship Id="rId2" Type="http://schemas.openxmlformats.org/officeDocument/2006/relationships/hyperlink" Target="https://shorinjikempo.dream-times.net/wp-admin/network/site-info.php?id=3" TargetMode="External"/><Relationship Id="rId1" Type="http://schemas.openxmlformats.org/officeDocument/2006/relationships/slideLayout" Target="../slideLayouts/slideLayout6.xml"/><Relationship Id="rId5" Type="http://schemas.openxmlformats.org/officeDocument/2006/relationships/hyperlink" Target="https://shorinjikempo.dream-times.net/wp-admin/network/site-info.php?id=4" TargetMode="External"/><Relationship Id="rId4" Type="http://schemas.openxmlformats.org/officeDocument/2006/relationships/hyperlink" Target="https://shorinjikempo.dream-times.net/wp-admin/network/site-info.php?id=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36F940-A677-975C-5D97-19F8F56C294E}"/>
              </a:ext>
            </a:extLst>
          </p:cNvPr>
          <p:cNvSpPr>
            <a:spLocks noGrp="1"/>
          </p:cNvSpPr>
          <p:nvPr>
            <p:ph type="ctrTitle"/>
          </p:nvPr>
        </p:nvSpPr>
        <p:spPr/>
        <p:txBody>
          <a:bodyPr anchor="t">
            <a:noAutofit/>
          </a:bodyPr>
          <a:lstStyle/>
          <a:p>
            <a:r>
              <a:rPr kumimoji="1" lang="ja-JP" altLang="en-US" sz="4000">
                <a:latin typeface="Meiryo UI" panose="020B0604030504040204" pitchFamily="34" charset="-128"/>
                <a:ea typeface="Meiryo UI" panose="020B0604030504040204" pitchFamily="34" charset="-128"/>
              </a:rPr>
              <a:t>埼玉鶴瀬道院</a:t>
            </a:r>
            <a:br>
              <a:rPr kumimoji="1" lang="en-US" altLang="ja-JP" sz="4000" dirty="0">
                <a:latin typeface="Meiryo UI" panose="020B0604030504040204" pitchFamily="34" charset="-128"/>
                <a:ea typeface="Meiryo UI" panose="020B0604030504040204" pitchFamily="34" charset="-128"/>
              </a:rPr>
            </a:br>
            <a:r>
              <a:rPr kumimoji="1" lang="ja-JP" altLang="en-US" sz="4000">
                <a:latin typeface="Meiryo UI" panose="020B0604030504040204" pitchFamily="34" charset="-128"/>
                <a:ea typeface="Meiryo UI" panose="020B0604030504040204" pitchFamily="34" charset="-128"/>
              </a:rPr>
              <a:t>志木スポーツ少年団</a:t>
            </a:r>
            <a:br>
              <a:rPr kumimoji="1" lang="en-US" altLang="ja-JP" sz="4800" dirty="0">
                <a:latin typeface="Meiryo UI" panose="020B0604030504040204" pitchFamily="34" charset="-128"/>
                <a:ea typeface="Meiryo UI" panose="020B0604030504040204" pitchFamily="34" charset="-128"/>
              </a:rPr>
            </a:br>
            <a:br>
              <a:rPr kumimoji="1" lang="en-US" altLang="ja-JP" sz="1600" dirty="0">
                <a:latin typeface="Meiryo UI" panose="020B0604030504040204" pitchFamily="34" charset="-128"/>
                <a:ea typeface="Meiryo UI" panose="020B0604030504040204" pitchFamily="34" charset="-128"/>
              </a:rPr>
            </a:br>
            <a:r>
              <a:rPr kumimoji="1" lang="ja-JP" altLang="en-US" sz="4800">
                <a:latin typeface="Meiryo UI" panose="020B0604030504040204" pitchFamily="34" charset="-128"/>
                <a:ea typeface="Meiryo UI" panose="020B0604030504040204" pitchFamily="34" charset="-128"/>
              </a:rPr>
              <a:t>統合サイト構築</a:t>
            </a:r>
            <a:br>
              <a:rPr kumimoji="1" lang="en-US" altLang="ja-JP" sz="4800" dirty="0">
                <a:latin typeface="Meiryo UI" panose="020B0604030504040204" pitchFamily="34" charset="-128"/>
                <a:ea typeface="Meiryo UI" panose="020B0604030504040204" pitchFamily="34" charset="-128"/>
              </a:rPr>
            </a:br>
            <a:r>
              <a:rPr kumimoji="1" lang="ja-JP" altLang="en-US" sz="4800">
                <a:latin typeface="Meiryo UI" panose="020B0604030504040204" pitchFamily="34" charset="-128"/>
                <a:ea typeface="Meiryo UI" panose="020B0604030504040204" pitchFamily="34" charset="-128"/>
              </a:rPr>
              <a:t>画面設計書</a:t>
            </a:r>
          </a:p>
        </p:txBody>
      </p:sp>
      <p:sp>
        <p:nvSpPr>
          <p:cNvPr id="3" name="字幕 2">
            <a:extLst>
              <a:ext uri="{FF2B5EF4-FFF2-40B4-BE49-F238E27FC236}">
                <a16:creationId xmlns:a16="http://schemas.microsoft.com/office/drawing/2014/main" id="{C25EA31A-0DCF-A04D-05A3-8260C633CE04}"/>
              </a:ext>
            </a:extLst>
          </p:cNvPr>
          <p:cNvSpPr>
            <a:spLocks noGrp="1"/>
          </p:cNvSpPr>
          <p:nvPr>
            <p:ph type="subTitle" idx="1"/>
          </p:nvPr>
        </p:nvSpPr>
        <p:spPr/>
        <p:txBody>
          <a:bodyPr anchor="b" anchorCtr="0"/>
          <a:lstStyle/>
          <a:p>
            <a:r>
              <a:rPr kumimoji="1" lang="ja-JP" altLang="en-US">
                <a:latin typeface="Meiryo UI" panose="020B0604030504040204" pitchFamily="34" charset="-128"/>
                <a:ea typeface="Meiryo UI" panose="020B0604030504040204" pitchFamily="34" charset="-128"/>
              </a:rPr>
              <a:t>どり</a:t>
            </a:r>
            <a:r>
              <a:rPr kumimoji="1" lang="en-US" altLang="ja-JP" dirty="0">
                <a:latin typeface="Meiryo UI" panose="020B0604030504040204" pitchFamily="34" charset="-128"/>
                <a:ea typeface="Meiryo UI" panose="020B0604030504040204" pitchFamily="34" charset="-128"/>
              </a:rPr>
              <a:t>〜</a:t>
            </a:r>
            <a:r>
              <a:rPr kumimoji="1" lang="ja-JP" altLang="en-US">
                <a:latin typeface="Meiryo UI" panose="020B0604030504040204" pitchFamily="34" charset="-128"/>
                <a:ea typeface="Meiryo UI" panose="020B0604030504040204" pitchFamily="34" charset="-128"/>
              </a:rPr>
              <a:t>む・たいむす　</a:t>
            </a:r>
            <a:r>
              <a:rPr lang="ja-JP" altLang="en-US">
                <a:latin typeface="Meiryo UI" panose="020B0604030504040204" pitchFamily="34" charset="-128"/>
                <a:ea typeface="Meiryo UI" panose="020B0604030504040204" pitchFamily="34" charset="-128"/>
              </a:rPr>
              <a:t>吉野　敏之</a:t>
            </a:r>
            <a:endParaRPr kumimoji="1" lang="ja-JP" altLang="en-US">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88616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6A53FB3-0884-785D-B6ED-67AECC6D0443}"/>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目的</a:t>
            </a:r>
          </a:p>
        </p:txBody>
      </p:sp>
      <p:sp>
        <p:nvSpPr>
          <p:cNvPr id="7" name="テキスト ボックス 6">
            <a:extLst>
              <a:ext uri="{FF2B5EF4-FFF2-40B4-BE49-F238E27FC236}">
                <a16:creationId xmlns:a16="http://schemas.microsoft.com/office/drawing/2014/main" id="{C37C1A2D-FBA9-C314-937F-B329460B1587}"/>
              </a:ext>
            </a:extLst>
          </p:cNvPr>
          <p:cNvSpPr txBox="1"/>
          <p:nvPr/>
        </p:nvSpPr>
        <p:spPr>
          <a:xfrm>
            <a:off x="516367" y="1097280"/>
            <a:ext cx="11263257" cy="3785652"/>
          </a:xfrm>
          <a:prstGeom prst="rect">
            <a:avLst/>
          </a:prstGeom>
          <a:noFill/>
        </p:spPr>
        <p:txBody>
          <a:bodyPr wrap="square" rtlCol="0">
            <a:spAutoFit/>
          </a:bodyPr>
          <a:lstStyle/>
          <a:p>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現状</a:t>
            </a:r>
            <a:r>
              <a:rPr kumimoji="1" lang="en-US" altLang="ja-JP" sz="2400" dirty="0">
                <a:latin typeface="Meiryo UI" panose="020B0604030504040204" pitchFamily="34" charset="-128"/>
                <a:ea typeface="Meiryo UI" panose="020B0604030504040204" pitchFamily="34" charset="-128"/>
              </a:rPr>
              <a:t>】</a:t>
            </a:r>
          </a:p>
          <a:p>
            <a:r>
              <a:rPr kumimoji="1" lang="ja-JP" altLang="en-US" sz="2400">
                <a:latin typeface="Meiryo UI" panose="020B0604030504040204" pitchFamily="34" charset="-128"/>
                <a:ea typeface="Meiryo UI" panose="020B0604030504040204" pitchFamily="34" charset="-128"/>
              </a:rPr>
              <a:t>　１、埼玉県連で作成されたサイトは、メンテナンスが難解であり、修正箇所により有料化している</a:t>
            </a:r>
            <a:endParaRPr kumimoji="1" lang="en-US" altLang="ja-JP" sz="2400" dirty="0">
              <a:latin typeface="Meiryo UI" panose="020B0604030504040204" pitchFamily="34" charset="-128"/>
              <a:ea typeface="Meiryo UI" panose="020B0604030504040204" pitchFamily="34" charset="-128"/>
            </a:endParaRPr>
          </a:p>
          <a:p>
            <a:r>
              <a:rPr lang="ja-JP" altLang="en-US" sz="2400">
                <a:latin typeface="Meiryo UI" panose="020B0604030504040204" pitchFamily="34" charset="-128"/>
                <a:ea typeface="Meiryo UI" panose="020B0604030504040204" pitchFamily="34" charset="-128"/>
              </a:rPr>
              <a:t>　２、今後、志木スポーツ少年団を追加する場合、有料となる</a:t>
            </a:r>
            <a:endParaRPr lang="en-US" altLang="ja-JP" sz="2400" dirty="0">
              <a:latin typeface="Meiryo UI" panose="020B0604030504040204" pitchFamily="34" charset="-128"/>
              <a:ea typeface="Meiryo UI" panose="020B0604030504040204" pitchFamily="34" charset="-128"/>
            </a:endParaRPr>
          </a:p>
          <a:p>
            <a:r>
              <a:rPr kumimoji="1" lang="ja-JP" altLang="en-US" sz="2400">
                <a:latin typeface="Meiryo UI" panose="020B0604030504040204" pitchFamily="34" charset="-128"/>
                <a:ea typeface="Meiryo UI" panose="020B0604030504040204" pitchFamily="34" charset="-128"/>
              </a:rPr>
              <a:t>　３、皆さんより提供された写真や動画をサイトに共有するのが困難である</a:t>
            </a:r>
            <a:endParaRPr kumimoji="1" lang="en-US" altLang="ja-JP" sz="2400" dirty="0">
              <a:latin typeface="Meiryo UI" panose="020B0604030504040204" pitchFamily="34" charset="-128"/>
              <a:ea typeface="Meiryo UI" panose="020B0604030504040204" pitchFamily="34" charset="-128"/>
            </a:endParaRPr>
          </a:p>
          <a:p>
            <a:endParaRPr lang="en-US" altLang="ja-JP" sz="2400" dirty="0">
              <a:latin typeface="Meiryo UI" panose="020B0604030504040204" pitchFamily="34" charset="-128"/>
              <a:ea typeface="Meiryo UI" panose="020B0604030504040204" pitchFamily="34" charset="-128"/>
            </a:endParaRPr>
          </a:p>
          <a:p>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提案</a:t>
            </a:r>
            <a:r>
              <a:rPr kumimoji="1" lang="en-US" altLang="ja-JP" sz="2400" dirty="0">
                <a:latin typeface="Meiryo UI" panose="020B0604030504040204" pitchFamily="34" charset="-128"/>
                <a:ea typeface="Meiryo UI" panose="020B0604030504040204" pitchFamily="34" charset="-128"/>
              </a:rPr>
              <a:t>】</a:t>
            </a:r>
          </a:p>
          <a:p>
            <a:r>
              <a:rPr lang="ja-JP" altLang="en-US" sz="2400">
                <a:latin typeface="Meiryo UI" panose="020B0604030504040204" pitchFamily="34" charset="-128"/>
                <a:ea typeface="Meiryo UI" panose="020B0604030504040204" pitchFamily="34" charset="-128"/>
              </a:rPr>
              <a:t>　１、複数のサイトを統合し管理しやすくメンテしやすいようにする</a:t>
            </a:r>
            <a:endParaRPr lang="en-US" altLang="ja-JP" sz="2400" dirty="0">
              <a:latin typeface="Meiryo UI" panose="020B0604030504040204" pitchFamily="34" charset="-128"/>
              <a:ea typeface="Meiryo UI" panose="020B0604030504040204" pitchFamily="34" charset="-128"/>
            </a:endParaRPr>
          </a:p>
          <a:p>
            <a:r>
              <a:rPr kumimoji="1" lang="ja-JP" altLang="en-US" sz="2400">
                <a:latin typeface="Meiryo UI" panose="020B0604030504040204" pitchFamily="34" charset="-128"/>
                <a:ea typeface="Meiryo UI" panose="020B0604030504040204" pitchFamily="34" charset="-128"/>
              </a:rPr>
              <a:t>　２、それぞれのサイトに必要な情報と共有する情報を融合化し同じ情報を複数箇所で登録しない様にする</a:t>
            </a:r>
            <a:endParaRPr kumimoji="1" lang="en-US" altLang="ja-JP" sz="2400"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53675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F877F56B-5FF6-0680-EC41-81CA385C3B98}"/>
              </a:ext>
            </a:extLst>
          </p:cNvPr>
          <p:cNvSpPr>
            <a:spLocks noGrp="1"/>
          </p:cNvSpPr>
          <p:nvPr>
            <p:ph type="title"/>
          </p:nvPr>
        </p:nvSpPr>
        <p:spPr>
          <a:xfrm>
            <a:off x="181984" y="160729"/>
            <a:ext cx="10515600" cy="721397"/>
          </a:xfrm>
        </p:spPr>
        <p:txBody>
          <a:bodyPr/>
          <a:lstStyle/>
          <a:p>
            <a:r>
              <a:rPr lang="ja-JP" altLang="en-US" b="1">
                <a:latin typeface="Meiryo UI" panose="020B0604030504040204" pitchFamily="34" charset="-128"/>
                <a:ea typeface="Meiryo UI" panose="020B0604030504040204" pitchFamily="34" charset="-128"/>
              </a:rPr>
              <a:t>メニューマトリクス</a:t>
            </a:r>
          </a:p>
        </p:txBody>
      </p:sp>
      <p:graphicFrame>
        <p:nvGraphicFramePr>
          <p:cNvPr id="41" name="表 40">
            <a:extLst>
              <a:ext uri="{FF2B5EF4-FFF2-40B4-BE49-F238E27FC236}">
                <a16:creationId xmlns:a16="http://schemas.microsoft.com/office/drawing/2014/main" id="{BF200424-25AB-E0D9-CCBB-B8F1C233934D}"/>
              </a:ext>
            </a:extLst>
          </p:cNvPr>
          <p:cNvGraphicFramePr>
            <a:graphicFrameLocks noGrp="1"/>
          </p:cNvGraphicFramePr>
          <p:nvPr>
            <p:extLst>
              <p:ext uri="{D42A27DB-BD31-4B8C-83A1-F6EECF244321}">
                <p14:modId xmlns:p14="http://schemas.microsoft.com/office/powerpoint/2010/main" val="1826939449"/>
              </p:ext>
            </p:extLst>
          </p:nvPr>
        </p:nvGraphicFramePr>
        <p:xfrm>
          <a:off x="306691" y="1085300"/>
          <a:ext cx="11578617" cy="3810897"/>
        </p:xfrm>
        <a:graphic>
          <a:graphicData uri="http://schemas.openxmlformats.org/drawingml/2006/table">
            <a:tbl>
              <a:tblPr firstRow="1" bandRow="1">
                <a:tableStyleId>{5C22544A-7EE6-4342-B048-85BDC9FD1C3A}</a:tableStyleId>
              </a:tblPr>
              <a:tblGrid>
                <a:gridCol w="2121218">
                  <a:extLst>
                    <a:ext uri="{9D8B030D-6E8A-4147-A177-3AD203B41FA5}">
                      <a16:colId xmlns:a16="http://schemas.microsoft.com/office/drawing/2014/main" val="1237805004"/>
                    </a:ext>
                  </a:extLst>
                </a:gridCol>
                <a:gridCol w="208280">
                  <a:extLst>
                    <a:ext uri="{9D8B030D-6E8A-4147-A177-3AD203B41FA5}">
                      <a16:colId xmlns:a16="http://schemas.microsoft.com/office/drawing/2014/main" val="1488293632"/>
                    </a:ext>
                  </a:extLst>
                </a:gridCol>
                <a:gridCol w="208280">
                  <a:extLst>
                    <a:ext uri="{9D8B030D-6E8A-4147-A177-3AD203B41FA5}">
                      <a16:colId xmlns:a16="http://schemas.microsoft.com/office/drawing/2014/main" val="1845091248"/>
                    </a:ext>
                  </a:extLst>
                </a:gridCol>
                <a:gridCol w="2817111">
                  <a:extLst>
                    <a:ext uri="{9D8B030D-6E8A-4147-A177-3AD203B41FA5}">
                      <a16:colId xmlns:a16="http://schemas.microsoft.com/office/drawing/2014/main" val="3531672148"/>
                    </a:ext>
                  </a:extLst>
                </a:gridCol>
                <a:gridCol w="1037288">
                  <a:extLst>
                    <a:ext uri="{9D8B030D-6E8A-4147-A177-3AD203B41FA5}">
                      <a16:colId xmlns:a16="http://schemas.microsoft.com/office/drawing/2014/main" val="3297726111"/>
                    </a:ext>
                  </a:extLst>
                </a:gridCol>
                <a:gridCol w="1037288">
                  <a:extLst>
                    <a:ext uri="{9D8B030D-6E8A-4147-A177-3AD203B41FA5}">
                      <a16:colId xmlns:a16="http://schemas.microsoft.com/office/drawing/2014/main" val="2357001524"/>
                    </a:ext>
                  </a:extLst>
                </a:gridCol>
                <a:gridCol w="1037288">
                  <a:extLst>
                    <a:ext uri="{9D8B030D-6E8A-4147-A177-3AD203B41FA5}">
                      <a16:colId xmlns:a16="http://schemas.microsoft.com/office/drawing/2014/main" val="3324466507"/>
                    </a:ext>
                  </a:extLst>
                </a:gridCol>
                <a:gridCol w="1037288">
                  <a:extLst>
                    <a:ext uri="{9D8B030D-6E8A-4147-A177-3AD203B41FA5}">
                      <a16:colId xmlns:a16="http://schemas.microsoft.com/office/drawing/2014/main" val="2725253780"/>
                    </a:ext>
                  </a:extLst>
                </a:gridCol>
                <a:gridCol w="1037288">
                  <a:extLst>
                    <a:ext uri="{9D8B030D-6E8A-4147-A177-3AD203B41FA5}">
                      <a16:colId xmlns:a16="http://schemas.microsoft.com/office/drawing/2014/main" val="232383048"/>
                    </a:ext>
                  </a:extLst>
                </a:gridCol>
                <a:gridCol w="1037288">
                  <a:extLst>
                    <a:ext uri="{9D8B030D-6E8A-4147-A177-3AD203B41FA5}">
                      <a16:colId xmlns:a16="http://schemas.microsoft.com/office/drawing/2014/main" val="1471495364"/>
                    </a:ext>
                  </a:extLst>
                </a:gridCol>
              </a:tblGrid>
              <a:tr h="423433">
                <a:tc gridSpan="4">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ja-JP" altLang="en-US" b="0">
                          <a:solidFill>
                            <a:schemeClr val="tx1"/>
                          </a:solidFill>
                          <a:latin typeface="Meiryo UI" panose="020B0604030504040204" pitchFamily="34" charset="-128"/>
                          <a:ea typeface="Meiryo UI" panose="020B0604030504040204" pitchFamily="34" charset="-128"/>
                        </a:rPr>
                        <a:t>https://shorinjikempo.dream-times.net/</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endParaRPr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b="0">
                          <a:solidFill>
                            <a:schemeClr val="tx1"/>
                          </a:solidFill>
                          <a:latin typeface="Meiryo UI" panose="020B0604030504040204" pitchFamily="34" charset="-128"/>
                          <a:ea typeface="Meiryo UI" panose="020B0604030504040204" pitchFamily="34" charset="-128"/>
                        </a:rPr>
                        <a:t>メニューバー リスト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hMerge="1">
                  <a:txBody>
                    <a:bodyPr/>
                    <a:lstStyle/>
                    <a:p>
                      <a:pPr/>
                      <a:endParaRPr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8868048"/>
                  </a:ext>
                </a:extLst>
              </a:tr>
              <a:tr h="423433">
                <a:tc rowSpan="2">
                  <a:txBody>
                    <a:bodyPr/>
                    <a:lstStyle/>
                    <a:p>
                      <a:r>
                        <a:rPr kumimoji="1" lang="ja-JP" altLang="en-US">
                          <a:solidFill>
                            <a:schemeClr val="tx1"/>
                          </a:solidFill>
                          <a:latin typeface="Meiryo UI" panose="020B0604030504040204" pitchFamily="34" charset="-128"/>
                          <a:ea typeface="Meiryo UI" panose="020B0604030504040204" pitchFamily="34" charset="-128"/>
                        </a:rPr>
                        <a:t>埼玉鶴瀬道院</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kumimoji="1" lang="en-US" altLang="ja-JP" b="0" dirty="0">
                          <a:solidFill>
                            <a:schemeClr val="bg1"/>
                          </a:solidFill>
                          <a:latin typeface="Meiryo UI" panose="020B0604030504040204" pitchFamily="34" charset="-128"/>
                          <a:ea typeface="Meiryo UI" panose="020B0604030504040204" pitchFamily="34" charset="-128"/>
                        </a:rPr>
                        <a:t>./</a:t>
                      </a:r>
                      <a:r>
                        <a:rPr lang="ja-JP" altLang="ja-JP" b="0">
                          <a:solidFill>
                            <a:schemeClr val="bg1"/>
                          </a:solidFill>
                          <a:latin typeface="Meiryo UI" panose="020B0604030504040204" pitchFamily="34" charset="-128"/>
                          <a:ea typeface="Meiryo UI" panose="020B0604030504040204" pitchFamily="34" charset="-128"/>
                          <a:hlinkClick r:id="rId2">
                            <a:extLst>
                              <a:ext uri="{A12FA001-AC4F-418D-AE19-62706E023703}">
                                <ahyp:hlinkClr xmlns:ahyp="http://schemas.microsoft.com/office/drawing/2018/hyperlinkcolor" val="tx"/>
                              </a:ext>
                            </a:extLst>
                          </a:hlinkClick>
                        </a:rPr>
                        <a:t>saitamatsuruse-douin</a:t>
                      </a:r>
                      <a:endParaRPr kumimoji="1" lang="ja-JP" altLang="en-US" b="0">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道院案内</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修練内容</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修練日程</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TlToBr w="12700" cmpd="sng">
                      <a:noFill/>
                      <a:prstDash val="solid"/>
                    </a:lnTlToBr>
                    <a:lnBlToTr w="12700" cmpd="sng">
                      <a:noFill/>
                      <a:prstDash val="solid"/>
                    </a:lnBlToTr>
                    <a:solidFill>
                      <a:srgbClr val="FF0000"/>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chemeClr val="bg1"/>
                          </a:solidFill>
                          <a:effectLst/>
                          <a:uLnTx/>
                          <a:uFillTx/>
                          <a:latin typeface="Meiryo UI" panose="020B0604030504040204" pitchFamily="34" charset="-128"/>
                          <a:ea typeface="Meiryo UI" panose="020B0604030504040204" pitchFamily="34" charset="-128"/>
                          <a:cs typeface="+mn-cs"/>
                        </a:rPr>
                        <a:t>写真館</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入門案内</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問合せ</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504903698"/>
                  </a:ext>
                </a:extLst>
              </a:tr>
              <a:tr h="423433">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238112002"/>
                  </a:ext>
                </a:extLst>
              </a:tr>
              <a:tr h="423433">
                <a:tc rowSpan="2">
                  <a:txBody>
                    <a:bodyPr/>
                    <a:lstStyle/>
                    <a:p>
                      <a:r>
                        <a:rPr kumimoji="1" lang="ja-JP" altLang="en-US">
                          <a:solidFill>
                            <a:schemeClr val="tx1"/>
                          </a:solidFill>
                          <a:latin typeface="Meiryo UI" panose="020B0604030504040204" pitchFamily="34" charset="-128"/>
                          <a:ea typeface="Meiryo UI" panose="020B0604030504040204" pitchFamily="34" charset="-128"/>
                        </a:rPr>
                        <a:t>志木スポーツ少年団</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kumimoji="1" lang="en-US" altLang="ja-JP" b="0" dirty="0">
                          <a:solidFill>
                            <a:schemeClr val="bg1"/>
                          </a:solidFill>
                          <a:latin typeface="Meiryo UI" panose="020B0604030504040204" pitchFamily="34" charset="-128"/>
                          <a:ea typeface="Meiryo UI" panose="020B0604030504040204" pitchFamily="34" charset="-128"/>
                        </a:rPr>
                        <a:t>./</a:t>
                      </a:r>
                      <a:r>
                        <a:rPr lang="ja-JP" altLang="ja-JP" b="0">
                          <a:solidFill>
                            <a:schemeClr val="bg1"/>
                          </a:solidFill>
                          <a:latin typeface="Meiryo UI" panose="020B0604030504040204" pitchFamily="34" charset="-128"/>
                          <a:ea typeface="Meiryo UI" panose="020B0604030504040204" pitchFamily="34" charset="-128"/>
                          <a:hlinkClick r:id="rId3">
                            <a:extLst>
                              <a:ext uri="{A12FA001-AC4F-418D-AE19-62706E023703}">
                                <ahyp:hlinkClr xmlns:ahyp="http://schemas.microsoft.com/office/drawing/2018/hyperlinkcolor" val="tx"/>
                              </a:ext>
                            </a:extLst>
                          </a:hlinkClick>
                        </a:rPr>
                        <a:t>shiki-jsc</a:t>
                      </a:r>
                      <a:endParaRPr kumimoji="1" lang="ja-JP" altLang="en-US" b="0">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支部案内</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修練内容</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修練日程</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TlToBr w="12700" cmpd="sng">
                      <a:noFill/>
                      <a:prstDash val="solid"/>
                    </a:lnTlToBr>
                    <a:lnBlToTr w="12700" cmpd="sng">
                      <a:noFill/>
                      <a:prstDash val="solid"/>
                    </a:lnBlToTr>
                    <a:solidFill>
                      <a:srgbClr val="FF0000"/>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chemeClr val="bg1"/>
                          </a:solidFill>
                          <a:effectLst/>
                          <a:uLnTx/>
                          <a:uFillTx/>
                          <a:latin typeface="Meiryo UI" panose="020B0604030504040204" pitchFamily="34" charset="-128"/>
                          <a:ea typeface="Meiryo UI" panose="020B0604030504040204" pitchFamily="34" charset="-128"/>
                          <a:cs typeface="+mn-cs"/>
                        </a:rPr>
                        <a:t>写真館</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入門案内</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rgbClr val="FF0000"/>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問合せ</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391436044"/>
                  </a:ext>
                </a:extLst>
              </a:tr>
              <a:tr h="423433">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441091695"/>
                  </a:ext>
                </a:extLst>
              </a:tr>
              <a:tr h="423433">
                <a:tc rowSpan="2">
                  <a:txBody>
                    <a:bodyPr/>
                    <a:lstStyle/>
                    <a:p>
                      <a:r>
                        <a:rPr kumimoji="1" lang="ja-JP" altLang="en-US">
                          <a:solidFill>
                            <a:schemeClr val="tx1"/>
                          </a:solidFill>
                          <a:latin typeface="Meiryo UI" panose="020B0604030504040204" pitchFamily="34" charset="-128"/>
                          <a:ea typeface="Meiryo UI" panose="020B0604030504040204" pitchFamily="34" charset="-128"/>
                        </a:rPr>
                        <a:t>イベント写真館</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kumimoji="1" lang="en-US" altLang="ja-JP" b="0" dirty="0">
                          <a:solidFill>
                            <a:schemeClr val="bg1"/>
                          </a:solidFill>
                          <a:latin typeface="Meiryo UI" panose="020B0604030504040204" pitchFamily="34" charset="-128"/>
                          <a:ea typeface="Meiryo UI" panose="020B0604030504040204" pitchFamily="34" charset="-128"/>
                        </a:rPr>
                        <a:t>./</a:t>
                      </a:r>
                      <a:r>
                        <a:rPr lang="ja-JP" altLang="ja-JP" b="0">
                          <a:solidFill>
                            <a:schemeClr val="bg1"/>
                          </a:solidFill>
                          <a:latin typeface="Meiryo UI" panose="020B0604030504040204" pitchFamily="34" charset="-128"/>
                          <a:ea typeface="Meiryo UI" panose="020B0604030504040204" pitchFamily="34" charset="-128"/>
                          <a:hlinkClick r:id="rId4">
                            <a:extLst>
                              <a:ext uri="{A12FA001-AC4F-418D-AE19-62706E023703}">
                                <ahyp:hlinkClr xmlns:ahyp="http://schemas.microsoft.com/office/drawing/2018/hyperlinkcolor" val="tx"/>
                              </a:ext>
                            </a:extLst>
                          </a:hlinkClick>
                        </a:rPr>
                        <a:t>tsuruse-shiki</a:t>
                      </a:r>
                      <a:endParaRPr kumimoji="1" lang="ja-JP" altLang="en-US" b="0">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イベント</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endParaRPr kumimoji="1" lang="ja-JP" altLang="en-US" sz="1600" b="1">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kumimoji="1" lang="ja-JP" altLang="en-US" sz="1600" b="1">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kumimoji="1" lang="ja-JP" altLang="en-US" sz="1600" b="1">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新規申込</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問合せ</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571156968"/>
                  </a:ext>
                </a:extLst>
              </a:tr>
              <a:tr h="423433">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3064808516"/>
                  </a:ext>
                </a:extLst>
              </a:tr>
              <a:tr h="423433">
                <a:tc rowSpan="2">
                  <a:txBody>
                    <a:bodyPr/>
                    <a:lstStyle/>
                    <a:p>
                      <a:r>
                        <a:rPr lang="ja-JP" altLang="en-US">
                          <a:solidFill>
                            <a:schemeClr val="tx1"/>
                          </a:solidFill>
                          <a:latin typeface="Meiryo UI" panose="020B0604030504040204" pitchFamily="34" charset="-128"/>
                          <a:ea typeface="Meiryo UI" panose="020B0604030504040204" pitchFamily="34" charset="-128"/>
                        </a:rPr>
                        <a:t>少林寺拳法大会</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r>
                        <a:rPr kumimoji="1" lang="en-US" altLang="ja-JP" b="0" dirty="0">
                          <a:solidFill>
                            <a:schemeClr val="bg1"/>
                          </a:solidFill>
                          <a:latin typeface="Meiryo UI" panose="020B0604030504040204" pitchFamily="34" charset="-128"/>
                          <a:ea typeface="Meiryo UI" panose="020B0604030504040204" pitchFamily="34" charset="-128"/>
                        </a:rPr>
                        <a:t>./</a:t>
                      </a:r>
                      <a:r>
                        <a:rPr lang="ja-JP" altLang="ja-JP" b="0">
                          <a:solidFill>
                            <a:schemeClr val="bg1"/>
                          </a:solidFill>
                          <a:latin typeface="Meiryo UI" panose="020B0604030504040204" pitchFamily="34" charset="-128"/>
                          <a:ea typeface="Meiryo UI" panose="020B0604030504040204" pitchFamily="34" charset="-128"/>
                          <a:hlinkClick r:id="rId5">
                            <a:extLst>
                              <a:ext uri="{A12FA001-AC4F-418D-AE19-62706E023703}">
                                <ahyp:hlinkClr xmlns:ahyp="http://schemas.microsoft.com/office/drawing/2018/hyperlinkcolor" val="tx"/>
                              </a:ext>
                            </a:extLst>
                          </a:hlinkClick>
                        </a:rPr>
                        <a:t>fujimi</a:t>
                      </a:r>
                      <a:endParaRPr kumimoji="1" lang="ja-JP" altLang="en-US" b="0">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参加申込</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選手変更</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大会結果</a:t>
                      </a:r>
                      <a:endParaRPr kumimoji="1" lang="en-US" altLang="ja-JP" sz="1600" b="1" dirty="0">
                        <a:solidFill>
                          <a:schemeClr val="bg1"/>
                        </a:solidFill>
                        <a:latin typeface="Meiryo UI" panose="020B0604030504040204" pitchFamily="34" charset="-128"/>
                        <a:ea typeface="Meiryo UI" panose="020B0604030504040204" pitchFamily="34" charset="-128"/>
                      </a:endParaRP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写真館</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6"/>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大会履歴</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tc rowSpan="2">
                  <a:txBody>
                    <a:bodyPr/>
                    <a:lstStyle/>
                    <a:p>
                      <a:pPr algn="ctr"/>
                      <a:r>
                        <a:rPr kumimoji="1" lang="ja-JP" altLang="en-US" sz="1600" b="1">
                          <a:solidFill>
                            <a:schemeClr val="bg1"/>
                          </a:solidFill>
                          <a:latin typeface="Meiryo UI" panose="020B0604030504040204" pitchFamily="34" charset="-128"/>
                          <a:ea typeface="Meiryo UI" panose="020B0604030504040204" pitchFamily="34" charset="-128"/>
                        </a:rPr>
                        <a:t>問合せ</a:t>
                      </a:r>
                    </a:p>
                  </a:txBody>
                  <a:tcPr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39637456"/>
                  </a:ext>
                </a:extLst>
              </a:tr>
              <a:tr h="423433">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191960922"/>
                  </a:ext>
                </a:extLst>
              </a:tr>
            </a:tbl>
          </a:graphicData>
        </a:graphic>
      </p:graphicFrame>
      <p:sp>
        <p:nvSpPr>
          <p:cNvPr id="42" name="テキスト ボックス 41">
            <a:extLst>
              <a:ext uri="{FF2B5EF4-FFF2-40B4-BE49-F238E27FC236}">
                <a16:creationId xmlns:a16="http://schemas.microsoft.com/office/drawing/2014/main" id="{72CBDE8D-3487-B858-0D5B-E0A1A9670139}"/>
              </a:ext>
            </a:extLst>
          </p:cNvPr>
          <p:cNvSpPr txBox="1"/>
          <p:nvPr/>
        </p:nvSpPr>
        <p:spPr>
          <a:xfrm>
            <a:off x="432751" y="5099371"/>
            <a:ext cx="7555273" cy="923330"/>
          </a:xfrm>
          <a:prstGeom prst="rect">
            <a:avLst/>
          </a:prstGeom>
          <a:noFill/>
        </p:spPr>
        <p:txBody>
          <a:bodyPr wrap="none" rtlCol="0">
            <a:spAutoFit/>
          </a:bodyPr>
          <a:lstStyle/>
          <a:p>
            <a:r>
              <a:rPr kumimoji="1" lang="en-US" altLang="ja-JP" dirty="0">
                <a:latin typeface="Meiryo UI" panose="020B0604030504040204" pitchFamily="34" charset="-128"/>
                <a:ea typeface="Meiryo UI" panose="020B0604030504040204" pitchFamily="34" charset="-128"/>
              </a:rPr>
              <a:t>【</a:t>
            </a:r>
            <a:r>
              <a:rPr kumimoji="1" lang="ja-JP" altLang="en-US">
                <a:latin typeface="Meiryo UI" panose="020B0604030504040204" pitchFamily="34" charset="-128"/>
                <a:ea typeface="Meiryo UI" panose="020B0604030504040204" pitchFamily="34" charset="-128"/>
              </a:rPr>
              <a:t>条件</a:t>
            </a:r>
            <a:r>
              <a:rPr kumimoji="1" lang="en-US" altLang="ja-JP" dirty="0">
                <a:latin typeface="Meiryo UI" panose="020B0604030504040204" pitchFamily="34" charset="-128"/>
                <a:ea typeface="Meiryo UI" panose="020B0604030504040204" pitchFamily="34" charset="-128"/>
              </a:rPr>
              <a:t>】</a:t>
            </a:r>
          </a:p>
          <a:p>
            <a:r>
              <a:rPr kumimoji="1" lang="ja-JP" altLang="en-US">
                <a:latin typeface="Meiryo UI" panose="020B0604030504040204" pitchFamily="34" charset="-128"/>
                <a:ea typeface="Meiryo UI" panose="020B0604030504040204" pitchFamily="34" charset="-128"/>
              </a:rPr>
              <a:t>　・ </a:t>
            </a:r>
            <a:r>
              <a:rPr kumimoji="1" lang="en-US" altLang="ja-JP" dirty="0">
                <a:latin typeface="Meiryo UI" panose="020B0604030504040204" pitchFamily="34" charset="-128"/>
                <a:ea typeface="Meiryo UI" panose="020B0604030504040204" pitchFamily="34" charset="-128"/>
              </a:rPr>
              <a:t>WordPress</a:t>
            </a:r>
            <a:r>
              <a:rPr kumimoji="1" lang="ja-JP" altLang="en-US">
                <a:latin typeface="Meiryo UI" panose="020B0604030504040204" pitchFamily="34" charset="-128"/>
                <a:ea typeface="Meiryo UI" panose="020B0604030504040204" pitchFamily="34" charset="-128"/>
              </a:rPr>
              <a:t>を利用し、マルチサイトを利用しプラグイン、テーマの共通化を図る</a:t>
            </a:r>
            <a:endParaRPr kumimoji="1" lang="en-US" altLang="ja-JP" dirty="0">
              <a:latin typeface="Meiryo UI" panose="020B0604030504040204" pitchFamily="34" charset="-128"/>
              <a:ea typeface="Meiryo UI" panose="020B0604030504040204" pitchFamily="34" charset="-128"/>
            </a:endParaRPr>
          </a:p>
          <a:p>
            <a:r>
              <a:rPr lang="ja-JP" altLang="en-US">
                <a:latin typeface="Meiryo UI" panose="020B0604030504040204" pitchFamily="34" charset="-128"/>
                <a:ea typeface="Meiryo UI" panose="020B0604030504040204" pitchFamily="34" charset="-128"/>
              </a:rPr>
              <a:t>　・ 上記のメニューマトリクスの様に情報の共有化を図り、入力の重複を避ける</a:t>
            </a:r>
            <a:endParaRPr lang="en-US" altLang="ja-JP"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000037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A009E32A-906F-ED47-1957-6E11CB13CA89}"/>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テンプレート</a:t>
            </a:r>
            <a:endParaRPr lang="ja-JP" altLang="en-US" sz="1800">
              <a:latin typeface="Meiryo UI" panose="020B0604030504040204" pitchFamily="34" charset="-128"/>
              <a:ea typeface="Meiryo UI" panose="020B0604030504040204" pitchFamily="34" charset="-128"/>
            </a:endParaRPr>
          </a:p>
        </p:txBody>
      </p:sp>
      <p:sp>
        <p:nvSpPr>
          <p:cNvPr id="17" name="角丸四角形 16">
            <a:extLst>
              <a:ext uri="{FF2B5EF4-FFF2-40B4-BE49-F238E27FC236}">
                <a16:creationId xmlns:a16="http://schemas.microsoft.com/office/drawing/2014/main" id="{1E65FDBC-0EA2-1975-ECD9-55CBFA59738A}"/>
              </a:ext>
            </a:extLst>
          </p:cNvPr>
          <p:cNvSpPr/>
          <p:nvPr/>
        </p:nvSpPr>
        <p:spPr>
          <a:xfrm>
            <a:off x="738967" y="1414140"/>
            <a:ext cx="4966826" cy="917811"/>
          </a:xfrm>
          <a:prstGeom prst="roundRect">
            <a:avLst>
              <a:gd name="adj" fmla="val 78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34" charset="-128"/>
                <a:ea typeface="Meiryo UI" panose="020B0604030504040204" pitchFamily="34" charset="-128"/>
              </a:rPr>
              <a:t>ヘッダ</a:t>
            </a:r>
            <a:endParaRPr kumimoji="1" lang="en-US" altLang="ja-JP" dirty="0">
              <a:solidFill>
                <a:schemeClr val="tx1"/>
              </a:solidFill>
              <a:latin typeface="Meiryo UI" panose="020B0604030504040204" pitchFamily="34" charset="-128"/>
              <a:ea typeface="Meiryo UI" panose="020B0604030504040204" pitchFamily="34" charset="-128"/>
            </a:endParaRPr>
          </a:p>
          <a:p>
            <a:pPr algn="ctr"/>
            <a:r>
              <a:rPr lang="ja-JP" altLang="en-US">
                <a:solidFill>
                  <a:schemeClr val="tx1"/>
                </a:solidFill>
                <a:latin typeface="Meiryo UI" panose="020B0604030504040204" pitchFamily="34" charset="-128"/>
                <a:ea typeface="Meiryo UI" panose="020B0604030504040204" pitchFamily="34" charset="-128"/>
              </a:rPr>
              <a:t>（メニューバー）</a:t>
            </a:r>
            <a:endParaRPr lang="en-US" altLang="ja-JP" dirty="0">
              <a:solidFill>
                <a:schemeClr val="tx1"/>
              </a:solidFill>
              <a:latin typeface="Meiryo UI" panose="020B0604030504040204" pitchFamily="34" charset="-128"/>
              <a:ea typeface="Meiryo UI" panose="020B0604030504040204" pitchFamily="34" charset="-128"/>
            </a:endParaRPr>
          </a:p>
          <a:p>
            <a:pPr algn="ctr"/>
            <a:r>
              <a:rPr kumimoji="1" lang="ja-JP" altLang="en-US">
                <a:solidFill>
                  <a:schemeClr val="tx1"/>
                </a:solidFill>
                <a:latin typeface="Meiryo UI" panose="020B0604030504040204" pitchFamily="34" charset="-128"/>
                <a:ea typeface="Meiryo UI" panose="020B0604030504040204" pitchFamily="34" charset="-128"/>
              </a:rPr>
              <a:t>（スライドショー（トップのみ））</a:t>
            </a:r>
          </a:p>
        </p:txBody>
      </p:sp>
      <p:sp>
        <p:nvSpPr>
          <p:cNvPr id="18" name="角丸四角形 17">
            <a:extLst>
              <a:ext uri="{FF2B5EF4-FFF2-40B4-BE49-F238E27FC236}">
                <a16:creationId xmlns:a16="http://schemas.microsoft.com/office/drawing/2014/main" id="{52BC6AE4-F838-B030-C656-3B9911124B0D}"/>
              </a:ext>
            </a:extLst>
          </p:cNvPr>
          <p:cNvSpPr/>
          <p:nvPr/>
        </p:nvSpPr>
        <p:spPr>
          <a:xfrm>
            <a:off x="738967" y="2340462"/>
            <a:ext cx="1419762" cy="1968668"/>
          </a:xfrm>
          <a:prstGeom prst="roundRect">
            <a:avLst>
              <a:gd name="adj" fmla="val 736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34" charset="-128"/>
                <a:ea typeface="Meiryo UI" panose="020B0604030504040204" pitchFamily="34" charset="-128"/>
              </a:rPr>
              <a:t>サイドバー</a:t>
            </a:r>
          </a:p>
        </p:txBody>
      </p:sp>
      <p:sp>
        <p:nvSpPr>
          <p:cNvPr id="19" name="角丸四角形 18">
            <a:extLst>
              <a:ext uri="{FF2B5EF4-FFF2-40B4-BE49-F238E27FC236}">
                <a16:creationId xmlns:a16="http://schemas.microsoft.com/office/drawing/2014/main" id="{8B8DB701-D9FF-0722-A12F-175F35585A3D}"/>
              </a:ext>
            </a:extLst>
          </p:cNvPr>
          <p:cNvSpPr/>
          <p:nvPr/>
        </p:nvSpPr>
        <p:spPr>
          <a:xfrm>
            <a:off x="2158728" y="2340462"/>
            <a:ext cx="3547064" cy="1972923"/>
          </a:xfrm>
          <a:prstGeom prst="roundRect">
            <a:avLst>
              <a:gd name="adj" fmla="val 5211"/>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34" charset="-128"/>
                <a:ea typeface="Meiryo UI" panose="020B0604030504040204" pitchFamily="34" charset="-128"/>
              </a:rPr>
              <a:t>メイン</a:t>
            </a:r>
          </a:p>
        </p:txBody>
      </p:sp>
      <p:sp>
        <p:nvSpPr>
          <p:cNvPr id="20" name="角丸四角形 19">
            <a:extLst>
              <a:ext uri="{FF2B5EF4-FFF2-40B4-BE49-F238E27FC236}">
                <a16:creationId xmlns:a16="http://schemas.microsoft.com/office/drawing/2014/main" id="{933FBA39-CFA4-EE87-5BBE-22E2F9FAE3A0}"/>
              </a:ext>
            </a:extLst>
          </p:cNvPr>
          <p:cNvSpPr/>
          <p:nvPr/>
        </p:nvSpPr>
        <p:spPr>
          <a:xfrm>
            <a:off x="738967" y="4313385"/>
            <a:ext cx="4966826" cy="158862"/>
          </a:xfrm>
          <a:prstGeom prst="roundRect">
            <a:avLst>
              <a:gd name="adj" fmla="val 4077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34" charset="-128"/>
                <a:ea typeface="Meiryo UI" panose="020B0604030504040204" pitchFamily="34" charset="-128"/>
              </a:rPr>
              <a:t>フッタ</a:t>
            </a:r>
          </a:p>
        </p:txBody>
      </p:sp>
      <p:sp>
        <p:nvSpPr>
          <p:cNvPr id="24" name="線吹き出し 2 (枠付き) 23">
            <a:extLst>
              <a:ext uri="{FF2B5EF4-FFF2-40B4-BE49-F238E27FC236}">
                <a16:creationId xmlns:a16="http://schemas.microsoft.com/office/drawing/2014/main" id="{BAE51BE8-897F-AFEF-10A8-92A20AF98687}"/>
              </a:ext>
            </a:extLst>
          </p:cNvPr>
          <p:cNvSpPr/>
          <p:nvPr/>
        </p:nvSpPr>
        <p:spPr>
          <a:xfrm>
            <a:off x="6793782" y="1173214"/>
            <a:ext cx="4046015" cy="1436984"/>
          </a:xfrm>
          <a:prstGeom prst="borderCallout2">
            <a:avLst>
              <a:gd name="adj1" fmla="val 26891"/>
              <a:gd name="adj2" fmla="val -2932"/>
              <a:gd name="adj3" fmla="val 27132"/>
              <a:gd name="adj4" fmla="val -8432"/>
              <a:gd name="adj5" fmla="val 53697"/>
              <a:gd name="adj6" fmla="val -34598"/>
            </a:avLst>
          </a:prstGeom>
        </p:spPr>
        <p:style>
          <a:lnRef idx="2">
            <a:schemeClr val="accent6"/>
          </a:lnRef>
          <a:fillRef idx="1">
            <a:schemeClr val="lt1"/>
          </a:fillRef>
          <a:effectRef idx="0">
            <a:schemeClr val="accent6"/>
          </a:effectRef>
          <a:fontRef idx="minor">
            <a:schemeClr val="dk1"/>
          </a:fontRef>
        </p:style>
        <p:txBody>
          <a:bodyPr rtlCol="0" anchor="t"/>
          <a:lstStyle/>
          <a:p>
            <a:r>
              <a:rPr kumimoji="1" lang="ja-JP" altLang="en-US">
                <a:latin typeface="Meiryo UI" panose="020B0604030504040204" pitchFamily="34" charset="-128"/>
                <a:ea typeface="Meiryo UI" panose="020B0604030504040204" pitchFamily="34" charset="-128"/>
              </a:rPr>
              <a:t>ヘッダ</a:t>
            </a:r>
            <a:r>
              <a:rPr lang="ja-JP" altLang="en-US" dirty="0">
                <a:latin typeface="Meiryo UI" panose="020B0604030504040204" pitchFamily="34" charset="-128"/>
                <a:ea typeface="Meiryo UI" panose="020B0604030504040204" pitchFamily="34" charset="-128"/>
              </a:rPr>
              <a:t>　</a:t>
            </a:r>
            <a:r>
              <a:rPr lang="ja-JP" altLang="en-US">
                <a:latin typeface="Meiryo UI" panose="020B0604030504040204" pitchFamily="34" charset="-128"/>
                <a:ea typeface="Meiryo UI" panose="020B0604030504040204" pitchFamily="34" charset="-128"/>
              </a:rPr>
              <a:t>左上に少林寺拳法ロゴ＋支部名</a:t>
            </a:r>
            <a:br>
              <a:rPr lang="en-US" altLang="ja-JP" dirty="0">
                <a:latin typeface="Meiryo UI" panose="020B0604030504040204" pitchFamily="34" charset="-128"/>
                <a:ea typeface="Meiryo UI" panose="020B0604030504040204" pitchFamily="34" charset="-128"/>
              </a:rPr>
            </a:br>
            <a:r>
              <a:rPr lang="ja-JP" altLang="en-US">
                <a:latin typeface="Meiryo UI" panose="020B0604030504040204" pitchFamily="34" charset="-128"/>
                <a:ea typeface="Meiryo UI" panose="020B0604030504040204" pitchFamily="34" charset="-128"/>
              </a:rPr>
              <a:t>　　　　右上に支部長の連絡先</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　　　　その下にメニューバーを配置</a:t>
            </a:r>
            <a:endParaRPr kumimoji="1" lang="en-US" altLang="ja-JP" dirty="0">
              <a:latin typeface="Meiryo UI" panose="020B0604030504040204" pitchFamily="34" charset="-128"/>
              <a:ea typeface="Meiryo UI" panose="020B0604030504040204" pitchFamily="34" charset="-128"/>
            </a:endParaRPr>
          </a:p>
          <a:p>
            <a:r>
              <a:rPr lang="ja-JP" altLang="en-US">
                <a:latin typeface="Meiryo UI" panose="020B0604030504040204" pitchFamily="34" charset="-128"/>
                <a:ea typeface="Meiryo UI" panose="020B0604030504040204" pitchFamily="34" charset="-128"/>
              </a:rPr>
              <a:t>　　　　トップ画面のみスライドショーを配置</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　　　　　それ以外にはぱんクズを配置</a:t>
            </a:r>
          </a:p>
        </p:txBody>
      </p:sp>
      <p:sp>
        <p:nvSpPr>
          <p:cNvPr id="25" name="線吹き出し 2 (枠付き) 24">
            <a:extLst>
              <a:ext uri="{FF2B5EF4-FFF2-40B4-BE49-F238E27FC236}">
                <a16:creationId xmlns:a16="http://schemas.microsoft.com/office/drawing/2014/main" id="{3F3794C6-3C40-5727-86D8-D993BFB41AB1}"/>
              </a:ext>
            </a:extLst>
          </p:cNvPr>
          <p:cNvSpPr/>
          <p:nvPr/>
        </p:nvSpPr>
        <p:spPr>
          <a:xfrm>
            <a:off x="6793782" y="2647836"/>
            <a:ext cx="4046015" cy="1436984"/>
          </a:xfrm>
          <a:prstGeom prst="borderCallout2">
            <a:avLst>
              <a:gd name="adj1" fmla="val 26891"/>
              <a:gd name="adj2" fmla="val -2932"/>
              <a:gd name="adj3" fmla="val 26822"/>
              <a:gd name="adj4" fmla="val -8346"/>
              <a:gd name="adj5" fmla="val 98240"/>
              <a:gd name="adj6" fmla="val -124047"/>
            </a:avLst>
          </a:prstGeom>
        </p:spPr>
        <p:style>
          <a:lnRef idx="2">
            <a:schemeClr val="accent6"/>
          </a:lnRef>
          <a:fillRef idx="1">
            <a:schemeClr val="lt1"/>
          </a:fillRef>
          <a:effectRef idx="0">
            <a:schemeClr val="accent6"/>
          </a:effectRef>
          <a:fontRef idx="minor">
            <a:schemeClr val="dk1"/>
          </a:fontRef>
        </p:style>
        <p:txBody>
          <a:bodyPr rtlCol="0" anchor="t"/>
          <a:lstStyle/>
          <a:p>
            <a:r>
              <a:rPr kumimoji="1" lang="ja-JP" altLang="en-US">
                <a:latin typeface="Meiryo UI" panose="020B0604030504040204" pitchFamily="34" charset="-128"/>
                <a:ea typeface="Meiryo UI" panose="020B0604030504040204" pitchFamily="34" charset="-128"/>
              </a:rPr>
              <a:t>サイドバー</a:t>
            </a:r>
            <a:r>
              <a:rPr lang="ja-JP" altLang="en-US">
                <a:latin typeface="Meiryo UI" panose="020B0604030504040204" pitchFamily="34" charset="-128"/>
                <a:ea typeface="Meiryo UI" panose="020B0604030504040204" pitchFamily="34" charset="-128"/>
              </a:rPr>
              <a:t>　支部長の写真</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　　　　　　支部名</a:t>
            </a:r>
            <a:endParaRPr kumimoji="1" lang="en-US" altLang="ja-JP" dirty="0">
              <a:latin typeface="Meiryo UI" panose="020B0604030504040204" pitchFamily="34" charset="-128"/>
              <a:ea typeface="Meiryo UI" panose="020B0604030504040204" pitchFamily="34" charset="-128"/>
            </a:endParaRPr>
          </a:p>
          <a:p>
            <a:r>
              <a:rPr lang="ja-JP" altLang="en-US">
                <a:latin typeface="Meiryo UI" panose="020B0604030504040204" pitchFamily="34" charset="-128"/>
                <a:ea typeface="Meiryo UI" panose="020B0604030504040204" pitchFamily="34" charset="-128"/>
              </a:rPr>
              <a:t>　　　　　　支部長名＋連絡先</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　　　　　　メニューリスト</a:t>
            </a:r>
            <a:endParaRPr kumimoji="1" lang="en-US" altLang="ja-JP" dirty="0">
              <a:latin typeface="Meiryo UI" panose="020B0604030504040204" pitchFamily="34" charset="-128"/>
              <a:ea typeface="Meiryo UI" panose="020B0604030504040204" pitchFamily="34" charset="-128"/>
            </a:endParaRPr>
          </a:p>
          <a:p>
            <a:r>
              <a:rPr lang="ja-JP" altLang="en-US">
                <a:latin typeface="Meiryo UI" panose="020B0604030504040204" pitchFamily="34" charset="-128"/>
                <a:ea typeface="Meiryo UI" panose="020B0604030504040204" pitchFamily="34" charset="-128"/>
              </a:rPr>
              <a:t>　　　　　　本部、埼玉県連サイトリスト</a:t>
            </a:r>
            <a:endParaRPr kumimoji="1" lang="ja-JP" altLang="en-US">
              <a:latin typeface="Meiryo UI" panose="020B0604030504040204" pitchFamily="34" charset="-128"/>
              <a:ea typeface="Meiryo UI" panose="020B0604030504040204" pitchFamily="34" charset="-128"/>
            </a:endParaRPr>
          </a:p>
        </p:txBody>
      </p:sp>
      <p:sp>
        <p:nvSpPr>
          <p:cNvPr id="26" name="線吹き出し 2 (枠付き) 25">
            <a:extLst>
              <a:ext uri="{FF2B5EF4-FFF2-40B4-BE49-F238E27FC236}">
                <a16:creationId xmlns:a16="http://schemas.microsoft.com/office/drawing/2014/main" id="{5F27D39D-AC1E-50CA-4355-83579E9F36C7}"/>
              </a:ext>
            </a:extLst>
          </p:cNvPr>
          <p:cNvSpPr/>
          <p:nvPr/>
        </p:nvSpPr>
        <p:spPr>
          <a:xfrm>
            <a:off x="6793782" y="4122458"/>
            <a:ext cx="4046015" cy="652186"/>
          </a:xfrm>
          <a:prstGeom prst="borderCallout2">
            <a:avLst>
              <a:gd name="adj1" fmla="val 26891"/>
              <a:gd name="adj2" fmla="val -2932"/>
              <a:gd name="adj3" fmla="val 28248"/>
              <a:gd name="adj4" fmla="val -8346"/>
              <a:gd name="adj5" fmla="val 43343"/>
              <a:gd name="adj6" fmla="val -35672"/>
            </a:avLst>
          </a:prstGeom>
        </p:spPr>
        <p:style>
          <a:lnRef idx="2">
            <a:schemeClr val="accent6"/>
          </a:lnRef>
          <a:fillRef idx="1">
            <a:schemeClr val="lt1"/>
          </a:fillRef>
          <a:effectRef idx="0">
            <a:schemeClr val="accent6"/>
          </a:effectRef>
          <a:fontRef idx="minor">
            <a:schemeClr val="dk1"/>
          </a:fontRef>
        </p:style>
        <p:txBody>
          <a:bodyPr rtlCol="0" anchor="t"/>
          <a:lstStyle/>
          <a:p>
            <a:r>
              <a:rPr kumimoji="1" lang="ja-JP" altLang="en-US">
                <a:latin typeface="Meiryo UI" panose="020B0604030504040204" pitchFamily="34" charset="-128"/>
                <a:ea typeface="Meiryo UI" panose="020B0604030504040204" pitchFamily="34" charset="-128"/>
              </a:rPr>
              <a:t>フッタ</a:t>
            </a:r>
            <a:r>
              <a:rPr lang="ja-JP" altLang="en-US">
                <a:latin typeface="Meiryo UI" panose="020B0604030504040204" pitchFamily="34" charset="-128"/>
                <a:ea typeface="Meiryo UI" panose="020B0604030504040204" pitchFamily="34" charset="-128"/>
              </a:rPr>
              <a:t>　</a:t>
            </a:r>
            <a:r>
              <a:rPr lang="en-US" altLang="ja-JP" dirty="0">
                <a:latin typeface="Meiryo UI" panose="020B0604030504040204" pitchFamily="34" charset="-128"/>
                <a:ea typeface="Meiryo UI" panose="020B0604030504040204" pitchFamily="34" charset="-128"/>
              </a:rPr>
              <a:t>Copyright</a:t>
            </a:r>
            <a:r>
              <a:rPr lang="ja-JP" altLang="en-US">
                <a:latin typeface="Meiryo UI" panose="020B0604030504040204" pitchFamily="34" charset="-128"/>
                <a:ea typeface="Meiryo UI" panose="020B0604030504040204" pitchFamily="34" charset="-128"/>
              </a:rPr>
              <a:t>の記載</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　　　　道院のみ本部の許諾番号を記載</a:t>
            </a:r>
          </a:p>
        </p:txBody>
      </p:sp>
      <p:sp>
        <p:nvSpPr>
          <p:cNvPr id="27" name="テキスト ボックス 26">
            <a:extLst>
              <a:ext uri="{FF2B5EF4-FFF2-40B4-BE49-F238E27FC236}">
                <a16:creationId xmlns:a16="http://schemas.microsoft.com/office/drawing/2014/main" id="{24C31C1F-9BD9-B6A5-13ED-9AA015235552}"/>
              </a:ext>
            </a:extLst>
          </p:cNvPr>
          <p:cNvSpPr txBox="1"/>
          <p:nvPr/>
        </p:nvSpPr>
        <p:spPr>
          <a:xfrm>
            <a:off x="509847" y="5494713"/>
            <a:ext cx="11172305" cy="646331"/>
          </a:xfrm>
          <a:prstGeom prst="rect">
            <a:avLst/>
          </a:prstGeom>
          <a:noFill/>
        </p:spPr>
        <p:txBody>
          <a:bodyPr wrap="square" rtlCol="0">
            <a:spAutoFit/>
          </a:bodyPr>
          <a:lstStyle/>
          <a:p>
            <a:r>
              <a:rPr kumimoji="1" lang="ja-JP" altLang="en-US">
                <a:latin typeface="Meiryo UI" panose="020B0604030504040204" pitchFamily="34" charset="-128"/>
                <a:ea typeface="Meiryo UI" panose="020B0604030504040204" pitchFamily="34" charset="-128"/>
              </a:rPr>
              <a:t>メインの</a:t>
            </a:r>
            <a:r>
              <a:rPr lang="ja-JP" altLang="en-US">
                <a:latin typeface="Meiryo UI" panose="020B0604030504040204" pitchFamily="34" charset="-128"/>
                <a:ea typeface="Meiryo UI" panose="020B0604030504040204" pitchFamily="34" charset="-128"/>
              </a:rPr>
              <a:t>表示に合わせてヘッダのメニューバーとサイドバーのメニューの色をつける</a:t>
            </a:r>
            <a:endParaRPr lang="en-US" altLang="ja-JP" dirty="0">
              <a:latin typeface="Meiryo UI" panose="020B0604030504040204" pitchFamily="34" charset="-128"/>
              <a:ea typeface="Meiryo UI" panose="020B0604030504040204" pitchFamily="34" charset="-128"/>
            </a:endParaRPr>
          </a:p>
          <a:p>
            <a:r>
              <a:rPr kumimoji="1" lang="ja-JP" altLang="en-US">
                <a:latin typeface="Meiryo UI" panose="020B0604030504040204" pitchFamily="34" charset="-128"/>
                <a:ea typeface="Meiryo UI" panose="020B0604030504040204" pitchFamily="34" charset="-128"/>
              </a:rPr>
              <a:t>道院は赤色</a:t>
            </a:r>
            <a:r>
              <a:rPr lang="en-US" altLang="ja-JP" sz="1050" dirty="0">
                <a:latin typeface="Meiryo UI" panose="020B0604030504040204" pitchFamily="34" charset="-128"/>
                <a:ea typeface="Meiryo UI" panose="020B0604030504040204" pitchFamily="34" charset="-128"/>
              </a:rPr>
              <a:t>(FF0000)</a:t>
            </a:r>
            <a:r>
              <a:rPr kumimoji="1" lang="ja-JP" altLang="en-US">
                <a:latin typeface="Meiryo UI" panose="020B0604030504040204" pitchFamily="34" charset="-128"/>
                <a:ea typeface="Meiryo UI" panose="020B0604030504040204" pitchFamily="34" charset="-128"/>
              </a:rPr>
              <a:t>、支部は青色</a:t>
            </a:r>
            <a:r>
              <a:rPr lang="en-US" altLang="ja-JP" sz="1050" dirty="0">
                <a:latin typeface="Meiryo UI" panose="020B0604030504040204" pitchFamily="34" charset="-128"/>
                <a:ea typeface="Meiryo UI" panose="020B0604030504040204" pitchFamily="34" charset="-128"/>
              </a:rPr>
              <a:t>(007FFF)</a:t>
            </a:r>
            <a:r>
              <a:rPr kumimoji="1" lang="ja-JP" altLang="en-US">
                <a:latin typeface="Meiryo UI" panose="020B0604030504040204" pitchFamily="34" charset="-128"/>
                <a:ea typeface="Meiryo UI" panose="020B0604030504040204" pitchFamily="34" charset="-128"/>
              </a:rPr>
              <a:t>、イベント写真館は緑色</a:t>
            </a:r>
            <a:r>
              <a:rPr lang="en-US" altLang="ja-JP" sz="1050" dirty="0">
                <a:latin typeface="Meiryo UI" panose="020B0604030504040204" pitchFamily="34" charset="-128"/>
                <a:ea typeface="Meiryo UI" panose="020B0604030504040204" pitchFamily="34" charset="-128"/>
              </a:rPr>
              <a:t>(00FF7F)</a:t>
            </a:r>
            <a:r>
              <a:rPr kumimoji="1" lang="ja-JP" altLang="en-US">
                <a:latin typeface="Meiryo UI" panose="020B0604030504040204" pitchFamily="34" charset="-128"/>
                <a:ea typeface="Meiryo UI" panose="020B0604030504040204" pitchFamily="34" charset="-128"/>
              </a:rPr>
              <a:t>、少林寺拳法大会は橙色</a:t>
            </a:r>
            <a:r>
              <a:rPr lang="en-US" altLang="ja-JP" sz="1050" dirty="0">
                <a:latin typeface="Meiryo UI" panose="020B0604030504040204" pitchFamily="34" charset="-128"/>
                <a:ea typeface="Meiryo UI" panose="020B0604030504040204" pitchFamily="34" charset="-128"/>
              </a:rPr>
              <a:t>(FF7F00)</a:t>
            </a:r>
            <a:r>
              <a:rPr lang="ja-JP" altLang="en-US">
                <a:latin typeface="Meiryo UI" panose="020B0604030504040204" pitchFamily="34" charset="-128"/>
                <a:ea typeface="Meiryo UI" panose="020B0604030504040204" pitchFamily="34" charset="-128"/>
              </a:rPr>
              <a:t>と色を</a:t>
            </a:r>
            <a:r>
              <a:rPr kumimoji="1" lang="ja-JP" altLang="en-US">
                <a:latin typeface="Meiryo UI" panose="020B0604030504040204" pitchFamily="34" charset="-128"/>
                <a:ea typeface="Meiryo UI" panose="020B0604030504040204" pitchFamily="34" charset="-128"/>
              </a:rPr>
              <a:t>統一する</a:t>
            </a:r>
          </a:p>
        </p:txBody>
      </p:sp>
    </p:spTree>
    <p:extLst>
      <p:ext uri="{BB962C8B-B14F-4D97-AF65-F5344CB8AC3E}">
        <p14:creationId xmlns:p14="http://schemas.microsoft.com/office/powerpoint/2010/main" val="2914146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9C520-99AE-ADC5-160C-19C016F27369}"/>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6CC146EA-E6AD-4C4D-3733-826D8B9F44C7}"/>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F5D0F81B-AF8C-BA75-3DBF-0449181A0162}"/>
              </a:ext>
            </a:extLst>
          </p:cNvPr>
          <p:cNvGraphicFramePr>
            <a:graphicFrameLocks noGrp="1"/>
          </p:cNvGraphicFramePr>
          <p:nvPr/>
        </p:nvGraphicFramePr>
        <p:xfrm>
          <a:off x="2107304" y="882126"/>
          <a:ext cx="8128001" cy="5973908"/>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ホーム</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a:latin typeface="Meiryo UI" panose="020B0604030504040204" pitchFamily="34" charset="-128"/>
                          <a:ea typeface="Meiryo UI" panose="020B0604030504040204" pitchFamily="34" charset="-128"/>
                        </a:rPr>
                        <a:t>道院のご案内</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修練内容</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906195">
                <a:tc gridSpan="7">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スライドショー</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673622">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EB08CBA3-DD47-6060-2CDA-5B10C2449E97}"/>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F134337A-470B-2881-F6F5-DF1647525DEC}"/>
              </a:ext>
            </a:extLst>
          </p:cNvPr>
          <p:cNvSpPr/>
          <p:nvPr/>
        </p:nvSpPr>
        <p:spPr>
          <a:xfrm>
            <a:off x="2162288" y="4158306"/>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04E9450F-BFE3-43ED-7720-ECB23923046B}"/>
              </a:ext>
            </a:extLst>
          </p:cNvPr>
          <p:cNvSpPr/>
          <p:nvPr/>
        </p:nvSpPr>
        <p:spPr>
          <a:xfrm>
            <a:off x="2162288" y="4454568"/>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91F302DE-7A41-8CAC-3054-0935A293CF20}"/>
              </a:ext>
            </a:extLst>
          </p:cNvPr>
          <p:cNvSpPr/>
          <p:nvPr/>
        </p:nvSpPr>
        <p:spPr>
          <a:xfrm>
            <a:off x="2162288" y="475083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39B46361-409C-6581-2690-ACEFD97E4456}"/>
              </a:ext>
            </a:extLst>
          </p:cNvPr>
          <p:cNvSpPr/>
          <p:nvPr/>
        </p:nvSpPr>
        <p:spPr>
          <a:xfrm>
            <a:off x="2162288" y="504709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0C297D35-AEB6-A43A-0714-86FAFB6B0D0E}"/>
              </a:ext>
            </a:extLst>
          </p:cNvPr>
          <p:cNvSpPr/>
          <p:nvPr/>
        </p:nvSpPr>
        <p:spPr>
          <a:xfrm>
            <a:off x="2162288" y="5343354"/>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DBEBE9F6-6C7F-DA24-C67A-738264E58760}"/>
              </a:ext>
            </a:extLst>
          </p:cNvPr>
          <p:cNvSpPr/>
          <p:nvPr/>
        </p:nvSpPr>
        <p:spPr>
          <a:xfrm>
            <a:off x="2162288" y="563961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6" name="表 15">
            <a:extLst>
              <a:ext uri="{FF2B5EF4-FFF2-40B4-BE49-F238E27FC236}">
                <a16:creationId xmlns:a16="http://schemas.microsoft.com/office/drawing/2014/main" id="{EF943A44-7F29-C2F9-4516-DBE73884A24D}"/>
              </a:ext>
            </a:extLst>
          </p:cNvPr>
          <p:cNvGraphicFramePr>
            <a:graphicFrameLocks noGrp="1"/>
          </p:cNvGraphicFramePr>
          <p:nvPr/>
        </p:nvGraphicFramePr>
        <p:xfrm>
          <a:off x="4505498" y="2801392"/>
          <a:ext cx="5660968" cy="3719371"/>
        </p:xfrm>
        <a:graphic>
          <a:graphicData uri="http://schemas.openxmlformats.org/drawingml/2006/table">
            <a:tbl>
              <a:tblPr firstRow="1" bandRow="1">
                <a:tableStyleId>{5C22544A-7EE6-4342-B048-85BDC9FD1C3A}</a:tableStyleId>
              </a:tblPr>
              <a:tblGrid>
                <a:gridCol w="718826">
                  <a:extLst>
                    <a:ext uri="{9D8B030D-6E8A-4147-A177-3AD203B41FA5}">
                      <a16:colId xmlns:a16="http://schemas.microsoft.com/office/drawing/2014/main" val="2657569459"/>
                    </a:ext>
                  </a:extLst>
                </a:gridCol>
                <a:gridCol w="4942142">
                  <a:extLst>
                    <a:ext uri="{9D8B030D-6E8A-4147-A177-3AD203B41FA5}">
                      <a16:colId xmlns:a16="http://schemas.microsoft.com/office/drawing/2014/main" val="1831292052"/>
                    </a:ext>
                  </a:extLst>
                </a:gridCol>
              </a:tblGrid>
              <a:tr h="915590">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道院の豊富</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7415129"/>
                  </a:ext>
                </a:extLst>
              </a:tr>
              <a:tr h="1180721">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写真</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4182663"/>
                  </a:ext>
                </a:extLst>
              </a:tr>
              <a:tr h="363079">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お知らせ</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6633317"/>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20</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448536"/>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錬成大会が開催されました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7509"/>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埼玉県大会が開催されました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267385"/>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富士見市大会のご案内</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0756117"/>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８月、９月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883972"/>
                  </a:ext>
                </a:extLst>
              </a:tr>
            </a:tbl>
          </a:graphicData>
        </a:graphic>
      </p:graphicFrame>
    </p:spTree>
    <p:extLst>
      <p:ext uri="{BB962C8B-B14F-4D97-AF65-F5344CB8AC3E}">
        <p14:creationId xmlns:p14="http://schemas.microsoft.com/office/powerpoint/2010/main" val="57997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110F-6481-6FD1-6D09-D485D667C5B1}"/>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BC10838A-61DE-6A8A-64DD-72A2EBFB153C}"/>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A0252676-793A-8C2D-F3E1-EFD09CD0BD2E}"/>
              </a:ext>
            </a:extLst>
          </p:cNvPr>
          <p:cNvGraphicFramePr>
            <a:graphicFrameLocks noGrp="1"/>
          </p:cNvGraphicFramePr>
          <p:nvPr>
            <p:extLst>
              <p:ext uri="{D42A27DB-BD31-4B8C-83A1-F6EECF244321}">
                <p14:modId xmlns:p14="http://schemas.microsoft.com/office/powerpoint/2010/main" val="3725133854"/>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a:latin typeface="Meiryo UI" panose="020B0604030504040204" pitchFamily="34" charset="-128"/>
                          <a:ea typeface="Meiryo UI" panose="020B0604030504040204" pitchFamily="34" charset="-128"/>
                        </a:rPr>
                        <a:t>修練内容</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道院のご案内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66DABF89-D4D8-B751-B9A6-2CE181FE8AB3}"/>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EF30D78B-4FFD-AE5C-0E62-F2F43F28DB7C}"/>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6A3F9424-2D42-509E-A964-7C5FB2597214}"/>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8B76443E-2423-8F98-8F97-18B8F8D7804A}"/>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2039F8EA-DE82-E552-7580-62FD89E24240}"/>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826F8A8B-1D05-5483-0D20-70E573A74447}"/>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98268CB5-DA80-45BE-2290-621B76ADB639}"/>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6" name="表 15">
            <a:extLst>
              <a:ext uri="{FF2B5EF4-FFF2-40B4-BE49-F238E27FC236}">
                <a16:creationId xmlns:a16="http://schemas.microsoft.com/office/drawing/2014/main" id="{C601570D-D937-71AD-37D3-48E315FB0D06}"/>
              </a:ext>
            </a:extLst>
          </p:cNvPr>
          <p:cNvGraphicFramePr>
            <a:graphicFrameLocks noGrp="1"/>
          </p:cNvGraphicFramePr>
          <p:nvPr>
            <p:extLst>
              <p:ext uri="{D42A27DB-BD31-4B8C-83A1-F6EECF244321}">
                <p14:modId xmlns:p14="http://schemas.microsoft.com/office/powerpoint/2010/main" val="4037149830"/>
              </p:ext>
            </p:extLst>
          </p:nvPr>
        </p:nvGraphicFramePr>
        <p:xfrm>
          <a:off x="4505498" y="2036618"/>
          <a:ext cx="5660968" cy="4121270"/>
        </p:xfrm>
        <a:graphic>
          <a:graphicData uri="http://schemas.openxmlformats.org/drawingml/2006/table">
            <a:tbl>
              <a:tblPr firstRow="1" bandRow="1">
                <a:tableStyleId>{5C22544A-7EE6-4342-B048-85BDC9FD1C3A}</a:tableStyleId>
              </a:tblPr>
              <a:tblGrid>
                <a:gridCol w="1155469">
                  <a:extLst>
                    <a:ext uri="{9D8B030D-6E8A-4147-A177-3AD203B41FA5}">
                      <a16:colId xmlns:a16="http://schemas.microsoft.com/office/drawing/2014/main" val="2657569459"/>
                    </a:ext>
                  </a:extLst>
                </a:gridCol>
                <a:gridCol w="723208">
                  <a:extLst>
                    <a:ext uri="{9D8B030D-6E8A-4147-A177-3AD203B41FA5}">
                      <a16:colId xmlns:a16="http://schemas.microsoft.com/office/drawing/2014/main" val="1831292052"/>
                    </a:ext>
                  </a:extLst>
                </a:gridCol>
                <a:gridCol w="3782291">
                  <a:extLst>
                    <a:ext uri="{9D8B030D-6E8A-4147-A177-3AD203B41FA5}">
                      <a16:colId xmlns:a16="http://schemas.microsoft.com/office/drawing/2014/main" val="1237125858"/>
                    </a:ext>
                  </a:extLst>
                </a:gridCol>
              </a:tblGrid>
              <a:tr h="449098">
                <a:tc gridSpan="3">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道院長のごあいさつ</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3627415129"/>
                  </a:ext>
                </a:extLst>
              </a:tr>
              <a:tr h="1449747">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写真</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道院長の略歴</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4182663"/>
                  </a:ext>
                </a:extLst>
              </a:tr>
              <a:tr h="449098">
                <a:tc gridSpan="3">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修練場所</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676633317"/>
                  </a:ext>
                </a:extLst>
              </a:tr>
              <a:tr h="177332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写真</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修練場所説明</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957448536"/>
                  </a:ext>
                </a:extLst>
              </a:tr>
            </a:tbl>
          </a:graphicData>
        </a:graphic>
      </p:graphicFrame>
    </p:spTree>
    <p:extLst>
      <p:ext uri="{BB962C8B-B14F-4D97-AF65-F5344CB8AC3E}">
        <p14:creationId xmlns:p14="http://schemas.microsoft.com/office/powerpoint/2010/main" val="666814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124B8-49F7-7B38-B6D7-E4CE9C35650E}"/>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311B7A67-AA00-C883-3A6C-C9D2AA346E9F}"/>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DD0AE727-BD08-4E9A-3C1B-60FA9A738248}"/>
              </a:ext>
            </a:extLst>
          </p:cNvPr>
          <p:cNvGraphicFramePr>
            <a:graphicFrameLocks noGrp="1"/>
          </p:cNvGraphicFramePr>
          <p:nvPr>
            <p:extLst>
              <p:ext uri="{D42A27DB-BD31-4B8C-83A1-F6EECF244321}">
                <p14:modId xmlns:p14="http://schemas.microsoft.com/office/powerpoint/2010/main" val="2112682502"/>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修練内容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9ABCAA42-26B4-B569-3FEC-DB23D3336991}"/>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445A5F3F-66E2-C53A-E7F9-816E94323768}"/>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64E18A1C-6109-6AC0-57B1-562FB9BE7C40}"/>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572C9627-6B26-E4BE-D96F-46D57088D93C}"/>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4C916E13-5473-6E0F-1932-9E095257525C}"/>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AE8B739E-48E9-0A3C-4943-73A8F7A2A0CD}"/>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1BC2877D-79C3-54B4-D9F8-AD145E648C12}"/>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BCC95D73-70B9-4E29-2BEF-BC40AC61C870}"/>
              </a:ext>
            </a:extLst>
          </p:cNvPr>
          <p:cNvGraphicFramePr>
            <a:graphicFrameLocks noGrp="1"/>
          </p:cNvGraphicFramePr>
          <p:nvPr>
            <p:extLst>
              <p:ext uri="{D42A27DB-BD31-4B8C-83A1-F6EECF244321}">
                <p14:modId xmlns:p14="http://schemas.microsoft.com/office/powerpoint/2010/main" val="173257034"/>
              </p:ext>
            </p:extLst>
          </p:nvPr>
        </p:nvGraphicFramePr>
        <p:xfrm>
          <a:off x="4505498" y="2036618"/>
          <a:ext cx="5652655" cy="4197926"/>
        </p:xfrm>
        <a:graphic>
          <a:graphicData uri="http://schemas.openxmlformats.org/drawingml/2006/table">
            <a:tbl>
              <a:tblPr firstRow="1" bandRow="1">
                <a:tableStyleId>{5C22544A-7EE6-4342-B048-85BDC9FD1C3A}</a:tableStyleId>
              </a:tblPr>
              <a:tblGrid>
                <a:gridCol w="1955105">
                  <a:extLst>
                    <a:ext uri="{9D8B030D-6E8A-4147-A177-3AD203B41FA5}">
                      <a16:colId xmlns:a16="http://schemas.microsoft.com/office/drawing/2014/main" val="2657569459"/>
                    </a:ext>
                  </a:extLst>
                </a:gridCol>
                <a:gridCol w="1848775">
                  <a:extLst>
                    <a:ext uri="{9D8B030D-6E8A-4147-A177-3AD203B41FA5}">
                      <a16:colId xmlns:a16="http://schemas.microsoft.com/office/drawing/2014/main" val="2019557291"/>
                    </a:ext>
                  </a:extLst>
                </a:gridCol>
                <a:gridCol w="1848775">
                  <a:extLst>
                    <a:ext uri="{9D8B030D-6E8A-4147-A177-3AD203B41FA5}">
                      <a16:colId xmlns:a16="http://schemas.microsoft.com/office/drawing/2014/main" val="2830224268"/>
                    </a:ext>
                  </a:extLst>
                </a:gridCol>
              </a:tblGrid>
              <a:tr h="449098">
                <a:tc gridSpan="3">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修練日時</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tc hMerge="1">
                  <a:txBody>
                    <a:bodyPr/>
                    <a:lstStyle/>
                    <a:p>
                      <a:endParaRPr kumimoji="1" lang="ja-JP" altLang="en-US"/>
                    </a:p>
                  </a:txBody>
                  <a:tcPr/>
                </a:tc>
                <a:extLst>
                  <a:ext uri="{0D108BD9-81ED-4DB2-BD59-A6C34878D82A}">
                    <a16:rowId xmlns:a16="http://schemas.microsoft.com/office/drawing/2014/main" val="3627415129"/>
                  </a:ext>
                </a:extLst>
              </a:tr>
              <a:tr h="1449747">
                <a:tc gridSpan="3">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毎週火曜日　志木市民体育館 柔道場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7:30～9:00</a:t>
                      </a:r>
                    </a:p>
                    <a:p>
                      <a:endParaRPr kumimoji="1" lang="en-US" altLang="ja-JP" sz="1050" b="0" i="0" kern="1200" dirty="0">
                        <a:solidFill>
                          <a:schemeClr val="dk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毎週木曜日　志木市民体育館 剣道場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p>
                    <a:p>
                      <a:endParaRPr kumimoji="1" lang="en-US" altLang="ja-JP" sz="1050" b="0" i="0" kern="1200" dirty="0">
                        <a:solidFill>
                          <a:schemeClr val="dk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毎週土曜日　富士見市民総合体育館 剣道場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7:30～9:00</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4182663"/>
                  </a:ext>
                </a:extLst>
              </a:tr>
              <a:tr h="449098">
                <a:tc gridSpan="3">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修練風景</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tc hMerge="1">
                  <a:txBody>
                    <a:bodyPr/>
                    <a:lstStyle/>
                    <a:p>
                      <a:endParaRPr kumimoji="1" lang="ja-JP" altLang="en-US"/>
                    </a:p>
                  </a:txBody>
                  <a:tcPr/>
                </a:tc>
                <a:extLst>
                  <a:ext uri="{0D108BD9-81ED-4DB2-BD59-A6C34878D82A}">
                    <a16:rowId xmlns:a16="http://schemas.microsoft.com/office/drawing/2014/main" val="2676633317"/>
                  </a:ext>
                </a:extLst>
              </a:tr>
              <a:tr h="536030">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57448536"/>
                  </a:ext>
                </a:extLst>
              </a:tr>
              <a:tr h="53603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修練写真</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7032006"/>
                  </a:ext>
                </a:extLst>
              </a:tr>
              <a:tr h="53603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40826304"/>
                  </a:ext>
                </a:extLst>
              </a:tr>
            </a:tbl>
          </a:graphicData>
        </a:graphic>
      </p:graphicFrame>
    </p:spTree>
    <p:extLst>
      <p:ext uri="{BB962C8B-B14F-4D97-AF65-F5344CB8AC3E}">
        <p14:creationId xmlns:p14="http://schemas.microsoft.com/office/powerpoint/2010/main" val="203379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92FF3-6FE8-5D3F-671F-B2644C31FDAB}"/>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D425F9AC-41ED-4425-3CA5-A4A56FFE5C58}"/>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82EE9451-2C52-694E-1A82-C2EC902F940B}"/>
              </a:ext>
            </a:extLst>
          </p:cNvPr>
          <p:cNvGraphicFramePr>
            <a:graphicFrameLocks noGrp="1"/>
          </p:cNvGraphicFramePr>
          <p:nvPr>
            <p:extLst>
              <p:ext uri="{D42A27DB-BD31-4B8C-83A1-F6EECF244321}">
                <p14:modId xmlns:p14="http://schemas.microsoft.com/office/powerpoint/2010/main" val="3994986533"/>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修練日程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51D7A8E3-6993-63B8-EDEB-4FF2978332F7}"/>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2F732FA0-71B6-2C29-0C67-43054A9AF219}"/>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DB830A3A-C1A8-48EB-4722-F72563EFA1C6}"/>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1C1DB695-F8AB-7E4B-3E8B-804919D55839}"/>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D612BADC-E6FE-267A-E516-EE0DE0FBAE3D}"/>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8136784C-AC25-F85A-AB80-4C9DEF279FC7}"/>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CF094BF4-F680-C0F1-D37A-FD038F85783A}"/>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1BBB5AC4-B83A-EDDA-C68B-871F98614B7E}"/>
              </a:ext>
            </a:extLst>
          </p:cNvPr>
          <p:cNvGraphicFramePr>
            <a:graphicFrameLocks noGrp="1"/>
          </p:cNvGraphicFramePr>
          <p:nvPr>
            <p:extLst>
              <p:ext uri="{D42A27DB-BD31-4B8C-83A1-F6EECF244321}">
                <p14:modId xmlns:p14="http://schemas.microsoft.com/office/powerpoint/2010/main" val="773630715"/>
              </p:ext>
            </p:extLst>
          </p:nvPr>
        </p:nvGraphicFramePr>
        <p:xfrm>
          <a:off x="4505498" y="2036618"/>
          <a:ext cx="5630530" cy="424243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657569459"/>
                    </a:ext>
                  </a:extLst>
                </a:gridCol>
                <a:gridCol w="116840">
                  <a:extLst>
                    <a:ext uri="{9D8B030D-6E8A-4147-A177-3AD203B41FA5}">
                      <a16:colId xmlns:a16="http://schemas.microsoft.com/office/drawing/2014/main" val="727909445"/>
                    </a:ext>
                  </a:extLst>
                </a:gridCol>
                <a:gridCol w="797029">
                  <a:extLst>
                    <a:ext uri="{9D8B030D-6E8A-4147-A177-3AD203B41FA5}">
                      <a16:colId xmlns:a16="http://schemas.microsoft.com/office/drawing/2014/main" val="3166146710"/>
                    </a:ext>
                  </a:extLst>
                </a:gridCol>
                <a:gridCol w="797028">
                  <a:extLst>
                    <a:ext uri="{9D8B030D-6E8A-4147-A177-3AD203B41FA5}">
                      <a16:colId xmlns:a16="http://schemas.microsoft.com/office/drawing/2014/main" val="3579805728"/>
                    </a:ext>
                  </a:extLst>
                </a:gridCol>
                <a:gridCol w="372848">
                  <a:extLst>
                    <a:ext uri="{9D8B030D-6E8A-4147-A177-3AD203B41FA5}">
                      <a16:colId xmlns:a16="http://schemas.microsoft.com/office/drawing/2014/main" val="2986663938"/>
                    </a:ext>
                  </a:extLst>
                </a:gridCol>
                <a:gridCol w="424180">
                  <a:extLst>
                    <a:ext uri="{9D8B030D-6E8A-4147-A177-3AD203B41FA5}">
                      <a16:colId xmlns:a16="http://schemas.microsoft.com/office/drawing/2014/main" val="1366686392"/>
                    </a:ext>
                  </a:extLst>
                </a:gridCol>
                <a:gridCol w="797028">
                  <a:extLst>
                    <a:ext uri="{9D8B030D-6E8A-4147-A177-3AD203B41FA5}">
                      <a16:colId xmlns:a16="http://schemas.microsoft.com/office/drawing/2014/main" val="3353703240"/>
                    </a:ext>
                  </a:extLst>
                </a:gridCol>
                <a:gridCol w="797029">
                  <a:extLst>
                    <a:ext uri="{9D8B030D-6E8A-4147-A177-3AD203B41FA5}">
                      <a16:colId xmlns:a16="http://schemas.microsoft.com/office/drawing/2014/main" val="1907596403"/>
                    </a:ext>
                  </a:extLst>
                </a:gridCol>
                <a:gridCol w="797028">
                  <a:extLst>
                    <a:ext uri="{9D8B030D-6E8A-4147-A177-3AD203B41FA5}">
                      <a16:colId xmlns:a16="http://schemas.microsoft.com/office/drawing/2014/main" val="4083220378"/>
                    </a:ext>
                  </a:extLst>
                </a:gridCol>
              </a:tblGrid>
              <a:tr h="423421">
                <a:tc gridSpan="9">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修練日程メモ</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27415129"/>
                  </a:ext>
                </a:extLst>
              </a:tr>
              <a:tr h="248202">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20</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4182663"/>
                  </a:ext>
                </a:extLst>
              </a:tr>
              <a:tr h="248202">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８月、９月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61309895"/>
                  </a:ext>
                </a:extLst>
              </a:tr>
              <a:tr h="423421">
                <a:tc gridSpan="9">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修練カレンダー</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676633317"/>
                  </a:ext>
                </a:extLst>
              </a:tr>
              <a:tr h="252691">
                <a:tc gridSpan="2">
                  <a:txBody>
                    <a:bodyPr/>
                    <a:lstStyle/>
                    <a:p>
                      <a:pPr algn="ctr"/>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 </a:t>
                      </a:r>
                      <a:r>
                        <a:rPr kumimoji="1" lang="en-US" altLang="ja-JP" sz="1050" b="0" dirty="0">
                          <a:solidFill>
                            <a:schemeClr val="tx1"/>
                          </a:solidFill>
                          <a:latin typeface="Meiryo UI" panose="020B0604030504040204" pitchFamily="34" charset="-128"/>
                          <a:ea typeface="Meiryo UI" panose="020B0604030504040204" pitchFamily="34" charset="-128"/>
                        </a:rPr>
                        <a:t>2026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ja-JP" altLang="en-US" sz="1050" b="0">
                          <a:solidFill>
                            <a:schemeClr val="tx1"/>
                          </a:solidFill>
                          <a:latin typeface="Meiryo UI" panose="020B0604030504040204" pitchFamily="34" charset="-128"/>
                          <a:ea typeface="Meiryo UI" panose="020B0604030504040204" pitchFamily="34" charset="-128"/>
                        </a:rPr>
                        <a:t>＜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今日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448536"/>
                  </a:ext>
                </a:extLst>
              </a:tr>
              <a:tr h="252691">
                <a:tc gridSpan="2">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月</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火</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水</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木</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金</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土</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05193115"/>
                  </a:ext>
                </a:extLst>
              </a:tr>
              <a:tr h="252691">
                <a:tc gridSpan="2">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31</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5866705"/>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075797"/>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465562"/>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916233"/>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30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1</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2</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3</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4</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7280658"/>
                  </a:ext>
                </a:extLst>
              </a:tr>
              <a:tr h="361021">
                <a:tc gridSpan="9">
                  <a:txBody>
                    <a:bodyPr/>
                    <a:lstStyle/>
                    <a:p>
                      <a:pPr algn="l"/>
                      <a:r>
                        <a:rPr kumimoji="1" lang="ja-JP" altLang="en-US" sz="1800" b="0">
                          <a:solidFill>
                            <a:schemeClr val="tx1"/>
                          </a:solidFill>
                          <a:latin typeface="Meiryo UI" panose="020B0604030504040204" pitchFamily="34" charset="-128"/>
                          <a:ea typeface="Meiryo UI" panose="020B0604030504040204" pitchFamily="34" charset="-128"/>
                        </a:rPr>
                        <a:t>年間行事</a:t>
                      </a:r>
                    </a:p>
                  </a:txBody>
                  <a:tcPr>
                    <a:lnL w="1270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少年少女武道錬成大会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73077739"/>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28939703"/>
                  </a:ext>
                </a:extLst>
              </a:tr>
              <a:tr h="252691">
                <a:tc gridSpan="5">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57698235"/>
                  </a:ext>
                </a:extLst>
              </a:tr>
            </a:tbl>
          </a:graphicData>
        </a:graphic>
      </p:graphicFrame>
    </p:spTree>
    <p:extLst>
      <p:ext uri="{BB962C8B-B14F-4D97-AF65-F5344CB8AC3E}">
        <p14:creationId xmlns:p14="http://schemas.microsoft.com/office/powerpoint/2010/main" val="199041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7355-70FD-9B6C-C801-FB668E2546D8}"/>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B5947023-7A6E-D983-56F4-CC3C92053270}"/>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22F17D6D-C07B-AA5A-2795-5F3D35D440C9}"/>
              </a:ext>
            </a:extLst>
          </p:cNvPr>
          <p:cNvGraphicFramePr>
            <a:graphicFrameLocks noGrp="1"/>
          </p:cNvGraphicFramePr>
          <p:nvPr>
            <p:extLst>
              <p:ext uri="{D42A27DB-BD31-4B8C-83A1-F6EECF244321}">
                <p14:modId xmlns:p14="http://schemas.microsoft.com/office/powerpoint/2010/main" val="186034450"/>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イベント写真館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082F9CA2-612A-2885-8207-C255E9F8D4BB}"/>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568E109E-4E5A-3603-59C2-51F3477F0A74}"/>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D72C945A-BBFC-F344-95E4-0F714CF4FBA9}"/>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50C4A897-7B1A-32BD-C622-8291DC3969FD}"/>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7968AE0F-5C8F-0A88-3A40-6E18B2365EC8}"/>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363E9143-1966-947B-5855-F29B90A634A2}"/>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6D8B4D9C-C037-80E2-284F-60CF2198ADF1}"/>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EB4DC75B-452E-0580-396B-42265D108261}"/>
              </a:ext>
            </a:extLst>
          </p:cNvPr>
          <p:cNvGraphicFramePr>
            <a:graphicFrameLocks noGrp="1"/>
          </p:cNvGraphicFramePr>
          <p:nvPr>
            <p:extLst>
              <p:ext uri="{D42A27DB-BD31-4B8C-83A1-F6EECF244321}">
                <p14:modId xmlns:p14="http://schemas.microsoft.com/office/powerpoint/2010/main" val="3353853100"/>
              </p:ext>
            </p:extLst>
          </p:nvPr>
        </p:nvGraphicFramePr>
        <p:xfrm>
          <a:off x="4505498" y="2036618"/>
          <a:ext cx="5630530" cy="208272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657569459"/>
                    </a:ext>
                  </a:extLst>
                </a:gridCol>
                <a:gridCol w="4899010">
                  <a:extLst>
                    <a:ext uri="{9D8B030D-6E8A-4147-A177-3AD203B41FA5}">
                      <a16:colId xmlns:a16="http://schemas.microsoft.com/office/drawing/2014/main" val="727909445"/>
                    </a:ext>
                  </a:extLst>
                </a:gridCol>
              </a:tblGrid>
              <a:tr h="361021">
                <a:tc gridSpan="2">
                  <a:txBody>
                    <a:bodyPr/>
                    <a:lstStyle/>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埼玉鶴瀬道院、志木スポ少にて開催されましたイベントの記録を順次掲載します。道院内のイベントであり、プライバシの事もありますので、ログイン後の閲覧とさせて頂きます。</a:t>
                      </a:r>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endParaRPr kumimoji="1" lang="ja-JP" altLang="ja-JP" sz="1050" b="0" i="0" kern="1200">
                        <a:solidFill>
                          <a:schemeClr val="tx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本サイトは、大野木道院長、佐藤</a:t>
                      </a:r>
                      <a:r>
                        <a:rPr kumimoji="1" lang="ja-JP" altLang="en-US" sz="1050" b="0" i="0" kern="1200">
                          <a:solidFill>
                            <a:schemeClr val="tx1"/>
                          </a:solidFill>
                          <a:effectLst/>
                          <a:latin typeface="Meiryo UI" panose="020B0604030504040204" pitchFamily="34" charset="-128"/>
                          <a:ea typeface="Meiryo UI" panose="020B0604030504040204" pitchFamily="34" charset="-128"/>
                          <a:cs typeface="+mn-cs"/>
                        </a:rPr>
                        <a:t>支部</a:t>
                      </a: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長の承認に伴い掲載いたします。</a:t>
                      </a:r>
                    </a:p>
                    <a:p>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アカウント未登録の方は、右上のログインより新規登録にてアカウント登録をお願いします。</a:t>
                      </a:r>
                    </a:p>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252873876"/>
                  </a:ext>
                </a:extLst>
              </a:tr>
              <a:tr h="361021">
                <a:tc gridSpan="2">
                  <a:txBody>
                    <a:bodyPr/>
                    <a:lstStyle/>
                    <a:p>
                      <a:pPr algn="l"/>
                      <a:r>
                        <a:rPr kumimoji="1" lang="en-US" altLang="ja-JP" sz="1800" b="0" dirty="0">
                          <a:solidFill>
                            <a:schemeClr val="tx1"/>
                          </a:solidFill>
                          <a:latin typeface="Meiryo UI" panose="020B0604030504040204" pitchFamily="34" charset="-128"/>
                          <a:ea typeface="Meiryo UI" panose="020B0604030504040204" pitchFamily="34" charset="-128"/>
                        </a:rPr>
                        <a:t>What’s</a:t>
                      </a:r>
                      <a:r>
                        <a:rPr kumimoji="1" lang="ja-JP" altLang="en-US" sz="1800" b="0">
                          <a:solidFill>
                            <a:schemeClr val="tx1"/>
                          </a:solidFill>
                          <a:latin typeface="Meiryo UI" panose="020B0604030504040204" pitchFamily="34" charset="-128"/>
                          <a:ea typeface="Meiryo UI" panose="020B0604030504040204" pitchFamily="34" charset="-128"/>
                        </a:rPr>
                        <a:t> </a:t>
                      </a:r>
                      <a:r>
                        <a:rPr kumimoji="1" lang="en-US" altLang="ja-JP" sz="1800" b="0" dirty="0">
                          <a:solidFill>
                            <a:schemeClr val="tx1"/>
                          </a:solidFill>
                          <a:latin typeface="Meiryo UI" panose="020B0604030504040204" pitchFamily="34" charset="-128"/>
                          <a:ea typeface="Meiryo UI" panose="020B0604030504040204" pitchFamily="34" charset="-128"/>
                        </a:rPr>
                        <a:t>New</a:t>
                      </a:r>
                      <a:endParaRPr kumimoji="1" lang="ja-JP" altLang="en-US" sz="180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少年少女武道錬成大会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28939703"/>
                  </a:ext>
                </a:extLst>
              </a:tr>
            </a:tbl>
          </a:graphicData>
        </a:graphic>
      </p:graphicFrame>
    </p:spTree>
    <p:extLst>
      <p:ext uri="{BB962C8B-B14F-4D97-AF65-F5344CB8AC3E}">
        <p14:creationId xmlns:p14="http://schemas.microsoft.com/office/powerpoint/2010/main" val="1061080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6BE1-991A-A3A5-20B6-6C9E07ACF68C}"/>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E6437944-3752-3F61-9693-DF4C6470BD82}"/>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DACC531A-739A-ED8E-F77C-D53520466373}"/>
              </a:ext>
            </a:extLst>
          </p:cNvPr>
          <p:cNvGraphicFramePr>
            <a:graphicFrameLocks noGrp="1"/>
          </p:cNvGraphicFramePr>
          <p:nvPr>
            <p:extLst>
              <p:ext uri="{D42A27DB-BD31-4B8C-83A1-F6EECF244321}">
                <p14:modId xmlns:p14="http://schemas.microsoft.com/office/powerpoint/2010/main" val="4183400905"/>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a:t>
                      </a:r>
                      <a:r>
                        <a:rPr kumimoji="1" lang="ja-JP" altLang="en-US" sz="800" b="0">
                          <a:solidFill>
                            <a:schemeClr val="tx1"/>
                          </a:solidFill>
                          <a:latin typeface="Meiryo UI" panose="020B0604030504040204" pitchFamily="34" charset="-128"/>
                          <a:ea typeface="Meiryo UI" panose="020B0604030504040204" pitchFamily="34" charset="-128"/>
                        </a:rPr>
                        <a:t>見学・入門案内</a:t>
                      </a:r>
                      <a:endParaRPr kumimoji="1" lang="ja-JP" altLang="en-US" sz="800">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9D717EF2-8262-F202-8623-CE877080A0DA}"/>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4156A8FF-3394-2D23-7812-49B5995E6451}"/>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069407CB-7B5F-6968-40C2-0508DE90A7FA}"/>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C874A3EE-A0AF-45F0-47C8-8B09C0DC1F4C}"/>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196433D4-112C-6A03-F8EC-71F27BF07FE5}"/>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1D3CFDEF-67C7-1083-4CCB-EFA71D4D7E88}"/>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0722689A-C3B9-AB62-B21D-249974F9657C}"/>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D8375224-B861-CACF-069D-41F69D4BE017}"/>
              </a:ext>
            </a:extLst>
          </p:cNvPr>
          <p:cNvGraphicFramePr>
            <a:graphicFrameLocks noGrp="1"/>
          </p:cNvGraphicFramePr>
          <p:nvPr>
            <p:extLst>
              <p:ext uri="{D42A27DB-BD31-4B8C-83A1-F6EECF244321}">
                <p14:modId xmlns:p14="http://schemas.microsoft.com/office/powerpoint/2010/main" val="1317266115"/>
              </p:ext>
            </p:extLst>
          </p:nvPr>
        </p:nvGraphicFramePr>
        <p:xfrm>
          <a:off x="4505498" y="2036618"/>
          <a:ext cx="5630530" cy="3931920"/>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361021">
                <a:tc gridSpan="2">
                  <a:txBody>
                    <a:bodyPr/>
                    <a:lstStyle/>
                    <a:p>
                      <a:pPr algn="l"/>
                      <a:r>
                        <a:rPr kumimoji="1" lang="ja-JP" altLang="en-US" sz="1800" b="0">
                          <a:solidFill>
                            <a:schemeClr val="tx1"/>
                          </a:solidFill>
                          <a:latin typeface="Meiryo UI" panose="020B0604030504040204" pitchFamily="34" charset="-128"/>
                          <a:ea typeface="Meiryo UI" panose="020B0604030504040204" pitchFamily="34" charset="-128"/>
                        </a:rPr>
                        <a:t>入門</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アイコン</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連絡先　大野木　憲三（道院長・責任者）</a:t>
                      </a: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　● 049-253-6241（自宅電話）</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　● 090-2643-2887（携帯電話）</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お問い合わせフォームもご利用になれます。</a:t>
                      </a:r>
                    </a:p>
                  </a:txBody>
                  <a:tcPr>
                    <a:lnL w="12700" cmpd="sng">
                      <a:noFill/>
                    </a:lnL>
                    <a:lnR w="12700" cmpd="sng">
                      <a:noFill/>
                    </a:lnR>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252691">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体験・見学</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アイコン</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毎週水曜日・土曜日</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6:00～8:00</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7:30～9:30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12700" cmpd="sng">
                      <a:noFill/>
                    </a:lnR>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252691">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よくある質問 Ｑ＆Ａ</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252691">
                <a:tc gridSpan="2">
                  <a:txBody>
                    <a:bodyPr/>
                    <a:lstStyle/>
                    <a:p>
                      <a:r>
                        <a:rPr kumimoji="1" lang="ja-JP" altLang="ja-JP" sz="1200" b="1" i="0" kern="1200">
                          <a:solidFill>
                            <a:schemeClr val="dk1"/>
                          </a:solidFill>
                          <a:effectLst/>
                          <a:latin typeface="Meiryo UI" panose="020B0604030504040204" pitchFamily="34" charset="-128"/>
                          <a:ea typeface="Meiryo UI" panose="020B0604030504040204" pitchFamily="34" charset="-128"/>
                          <a:cs typeface="+mn-cs"/>
                        </a:rPr>
                        <a:t>仕事が忙しくて練習時間に遅れてしまう。</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みんな仕事の余暇として少林寺拳法を楽しんでおります。仕事が第一です。ですから遅れて参加、残業でお休みも自由です。自分で調整しながら参加してください。</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a:solidFill>
                            <a:schemeClr val="dk1"/>
                          </a:solidFill>
                          <a:effectLst/>
                          <a:latin typeface="Meiryo UI" panose="020B0604030504040204" pitchFamily="34" charset="-128"/>
                          <a:ea typeface="Meiryo UI" panose="020B0604030504040204" pitchFamily="34" charset="-128"/>
                          <a:cs typeface="+mn-cs"/>
                        </a:rPr>
                        <a:t>塾と部活があって週2回は無理なのですが。</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本当は毎回の参加が望ましいのですが、他に塾や習い事があるので週1回の拳士ももちろんいます。</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無理のない範囲で生活を規律づけ、スケジュール管理、毎日の勉学、修練をどうこなしていくかも修行です。</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Tree>
    <p:extLst>
      <p:ext uri="{BB962C8B-B14F-4D97-AF65-F5344CB8AC3E}">
        <p14:creationId xmlns:p14="http://schemas.microsoft.com/office/powerpoint/2010/main" val="195478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D14B5-90F9-2E86-B5C0-6E0E593F4A02}"/>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00F05C72-9B8F-5F84-C82B-41D616BF6FF9}"/>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埼玉鶴瀬道院</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306C7C55-0809-B3CC-F50B-C80E7886442A}"/>
              </a:ext>
            </a:extLst>
          </p:cNvPr>
          <p:cNvGraphicFramePr>
            <a:graphicFrameLocks noGrp="1"/>
          </p:cNvGraphicFramePr>
          <p:nvPr>
            <p:extLst>
              <p:ext uri="{D42A27DB-BD31-4B8C-83A1-F6EECF244321}">
                <p14:modId xmlns:p14="http://schemas.microsoft.com/office/powerpoint/2010/main" val="3114772604"/>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金剛禅総本山少林寺</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rgbClr val="FF0000"/>
                          </a:solidFill>
                          <a:latin typeface="Meiryo UI" panose="020B0604030504040204" pitchFamily="34" charset="-128"/>
                          <a:ea typeface="Meiryo UI" panose="020B0604030504040204" pitchFamily="34" charset="-128"/>
                        </a:rPr>
                        <a:t>TEL.049-253-6241</a:t>
                      </a:r>
                      <a:endParaRPr kumimoji="1" lang="ja-JP" altLang="en-US" sz="14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埼玉鶴瀬道院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a:t>
                      </a:r>
                      <a:r>
                        <a:rPr kumimoji="1" lang="ja-JP" altLang="en-US" sz="800" b="0">
                          <a:solidFill>
                            <a:schemeClr val="tx1"/>
                          </a:solidFill>
                          <a:latin typeface="Meiryo UI" panose="020B0604030504040204" pitchFamily="34" charset="-128"/>
                          <a:ea typeface="Meiryo UI" panose="020B0604030504040204" pitchFamily="34" charset="-128"/>
                        </a:rPr>
                        <a:t>お問い合わせ</a:t>
                      </a:r>
                      <a:endParaRPr kumimoji="1" lang="ja-JP" altLang="en-US" sz="800">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道院長写真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埼玉鶴瀬道院</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道院長　大野木　憲三</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rgbClr val="FF0000"/>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6CADE726-1FFF-FEF8-7935-8B987E8037F9}"/>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B2EEE606-1DE1-5776-3136-B1E9C5C93D78}"/>
              </a:ext>
            </a:extLst>
          </p:cNvPr>
          <p:cNvSpPr/>
          <p:nvPr/>
        </p:nvSpPr>
        <p:spPr>
          <a:xfrm>
            <a:off x="2162288" y="3468349"/>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E9CA3772-9B19-DBF8-2C07-006FAA7974AF}"/>
              </a:ext>
            </a:extLst>
          </p:cNvPr>
          <p:cNvSpPr/>
          <p:nvPr/>
        </p:nvSpPr>
        <p:spPr>
          <a:xfrm>
            <a:off x="2162288" y="3764610"/>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1AEB53D6-28F7-CDF3-2CF9-C84C42B9BFCA}"/>
              </a:ext>
            </a:extLst>
          </p:cNvPr>
          <p:cNvSpPr/>
          <p:nvPr/>
        </p:nvSpPr>
        <p:spPr>
          <a:xfrm>
            <a:off x="2162288" y="4060871"/>
            <a:ext cx="2125789" cy="188025"/>
          </a:xfrm>
          <a:prstGeom prst="roundRect">
            <a:avLst/>
          </a:prstGeom>
          <a:noFill/>
          <a:ln w="31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9F153315-EC8F-F20A-0201-1E4C17FED79D}"/>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24876385-879A-A113-89F8-DDA5B94EA740}"/>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BBCA3788-F6BC-6E4C-97CF-3BA4EA0F25CF}"/>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D5A40B64-E89B-9DE8-517D-AC8FBD2C7698}"/>
              </a:ext>
            </a:extLst>
          </p:cNvPr>
          <p:cNvGraphicFramePr>
            <a:graphicFrameLocks noGrp="1"/>
          </p:cNvGraphicFramePr>
          <p:nvPr>
            <p:extLst>
              <p:ext uri="{D42A27DB-BD31-4B8C-83A1-F6EECF244321}">
                <p14:modId xmlns:p14="http://schemas.microsoft.com/office/powerpoint/2010/main" val="3070148386"/>
              </p:ext>
            </p:extLst>
          </p:nvPr>
        </p:nvGraphicFramePr>
        <p:xfrm>
          <a:off x="4505498" y="2036617"/>
          <a:ext cx="5630530" cy="4164678"/>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462742">
                <a:tc gridSpan="2">
                  <a:txBody>
                    <a:bodyPr/>
                    <a:lstStyle/>
                    <a:p>
                      <a:pPr algn="l"/>
                      <a:r>
                        <a:rPr kumimoji="1" lang="ja-JP" altLang="en-US" sz="1050" b="0">
                          <a:solidFill>
                            <a:schemeClr val="tx1"/>
                          </a:solidFill>
                          <a:latin typeface="Meiryo UI" panose="020B0604030504040204" pitchFamily="34" charset="-128"/>
                          <a:ea typeface="Meiryo UI" panose="020B0604030504040204" pitchFamily="34" charset="-128"/>
                        </a:rPr>
                        <a:t>お名前</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462742">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ふりがな</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462742">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お問い合わせ種類</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462742">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メールアドレス</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462742">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郵便番号</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462742">
                <a:tc gridSpan="2">
                  <a:txBody>
                    <a:bodyPr/>
                    <a:lstStyle/>
                    <a:p>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住所</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題名</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メッセージ本文</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Tree>
    <p:extLst>
      <p:ext uri="{BB962C8B-B14F-4D97-AF65-F5344CB8AC3E}">
        <p14:creationId xmlns:p14="http://schemas.microsoft.com/office/powerpoint/2010/main" val="959972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A46D6-D7BB-CD03-BAD5-1C0055BBA748}"/>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78C0548B-F08A-C6AA-4C5F-97A6555143F6}"/>
              </a:ext>
            </a:extLst>
          </p:cNvPr>
          <p:cNvGraphicFramePr>
            <a:graphicFrameLocks noGrp="1"/>
          </p:cNvGraphicFramePr>
          <p:nvPr>
            <p:extLst>
              <p:ext uri="{D42A27DB-BD31-4B8C-83A1-F6EECF244321}">
                <p14:modId xmlns:p14="http://schemas.microsoft.com/office/powerpoint/2010/main" val="2360020594"/>
              </p:ext>
            </p:extLst>
          </p:nvPr>
        </p:nvGraphicFramePr>
        <p:xfrm>
          <a:off x="2107304" y="882126"/>
          <a:ext cx="8128001" cy="5973908"/>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400">
                        <a:solidFill>
                          <a:schemeClr val="tx2">
                            <a:lumMod val="50000"/>
                            <a:lumOff val="50000"/>
                          </a:schemeClr>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ホーム</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a:latin typeface="Meiryo UI" panose="020B0604030504040204" pitchFamily="34" charset="-128"/>
                          <a:ea typeface="Meiryo UI" panose="020B0604030504040204" pitchFamily="34" charset="-128"/>
                        </a:rPr>
                        <a:t>支部のご案内</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修練内容</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906195">
                <a:tc gridSpan="7">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スライドショー</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673622">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E405B7A0-0937-5C49-FAB0-D1A579A34212}"/>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2BD1A03E-58E2-8FAD-5DF0-3DC35EAF35B0}"/>
              </a:ext>
            </a:extLst>
          </p:cNvPr>
          <p:cNvSpPr/>
          <p:nvPr/>
        </p:nvSpPr>
        <p:spPr>
          <a:xfrm>
            <a:off x="2162288" y="4158306"/>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F734440D-E74D-5EC2-4632-C0524FC7B74D}"/>
              </a:ext>
            </a:extLst>
          </p:cNvPr>
          <p:cNvSpPr/>
          <p:nvPr/>
        </p:nvSpPr>
        <p:spPr>
          <a:xfrm>
            <a:off x="2162288" y="4454568"/>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11F1A19F-62DF-F126-6345-3F36F488BBCA}"/>
              </a:ext>
            </a:extLst>
          </p:cNvPr>
          <p:cNvSpPr/>
          <p:nvPr/>
        </p:nvSpPr>
        <p:spPr>
          <a:xfrm>
            <a:off x="2162288" y="475083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F04E66B3-AB5D-6A63-3E4C-7BD38EB62852}"/>
              </a:ext>
            </a:extLst>
          </p:cNvPr>
          <p:cNvSpPr/>
          <p:nvPr/>
        </p:nvSpPr>
        <p:spPr>
          <a:xfrm>
            <a:off x="2162288" y="504709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8F2A2F41-5DBD-1962-5182-D8EC49D8142D}"/>
              </a:ext>
            </a:extLst>
          </p:cNvPr>
          <p:cNvSpPr/>
          <p:nvPr/>
        </p:nvSpPr>
        <p:spPr>
          <a:xfrm>
            <a:off x="2162288" y="5343354"/>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88EA0F21-1552-1C34-869E-58EF48C9F357}"/>
              </a:ext>
            </a:extLst>
          </p:cNvPr>
          <p:cNvSpPr/>
          <p:nvPr/>
        </p:nvSpPr>
        <p:spPr>
          <a:xfrm>
            <a:off x="2162288" y="563961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6" name="表 15">
            <a:extLst>
              <a:ext uri="{FF2B5EF4-FFF2-40B4-BE49-F238E27FC236}">
                <a16:creationId xmlns:a16="http://schemas.microsoft.com/office/drawing/2014/main" id="{228AA374-1767-F07E-ECB3-2B267EC02EAD}"/>
              </a:ext>
            </a:extLst>
          </p:cNvPr>
          <p:cNvGraphicFramePr>
            <a:graphicFrameLocks noGrp="1"/>
          </p:cNvGraphicFramePr>
          <p:nvPr>
            <p:extLst>
              <p:ext uri="{D42A27DB-BD31-4B8C-83A1-F6EECF244321}">
                <p14:modId xmlns:p14="http://schemas.microsoft.com/office/powerpoint/2010/main" val="2539408492"/>
              </p:ext>
            </p:extLst>
          </p:nvPr>
        </p:nvGraphicFramePr>
        <p:xfrm>
          <a:off x="4505498" y="2801392"/>
          <a:ext cx="5660968" cy="3719371"/>
        </p:xfrm>
        <a:graphic>
          <a:graphicData uri="http://schemas.openxmlformats.org/drawingml/2006/table">
            <a:tbl>
              <a:tblPr firstRow="1" bandRow="1">
                <a:tableStyleId>{5C22544A-7EE6-4342-B048-85BDC9FD1C3A}</a:tableStyleId>
              </a:tblPr>
              <a:tblGrid>
                <a:gridCol w="718826">
                  <a:extLst>
                    <a:ext uri="{9D8B030D-6E8A-4147-A177-3AD203B41FA5}">
                      <a16:colId xmlns:a16="http://schemas.microsoft.com/office/drawing/2014/main" val="2657569459"/>
                    </a:ext>
                  </a:extLst>
                </a:gridCol>
                <a:gridCol w="4942142">
                  <a:extLst>
                    <a:ext uri="{9D8B030D-6E8A-4147-A177-3AD203B41FA5}">
                      <a16:colId xmlns:a16="http://schemas.microsoft.com/office/drawing/2014/main" val="1831292052"/>
                    </a:ext>
                  </a:extLst>
                </a:gridCol>
              </a:tblGrid>
              <a:tr h="915590">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支部の豊富</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7415129"/>
                  </a:ext>
                </a:extLst>
              </a:tr>
              <a:tr h="1180721">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写真</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4182663"/>
                  </a:ext>
                </a:extLst>
              </a:tr>
              <a:tr h="363079">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お知らせ</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6633317"/>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20</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448536"/>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錬成大会が開催されました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7509"/>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埼玉県大会が開催されました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267385"/>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富士見市大会のご案内</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0756117"/>
                  </a:ext>
                </a:extLst>
              </a:tr>
              <a:tr h="24961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８月、９月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1883972"/>
                  </a:ext>
                </a:extLst>
              </a:tr>
            </a:tbl>
          </a:graphicData>
        </a:graphic>
      </p:graphicFrame>
      <p:sp>
        <p:nvSpPr>
          <p:cNvPr id="18" name="タイトル 3">
            <a:extLst>
              <a:ext uri="{FF2B5EF4-FFF2-40B4-BE49-F238E27FC236}">
                <a16:creationId xmlns:a16="http://schemas.microsoft.com/office/drawing/2014/main" id="{3814BE4E-2D9D-3C9B-4A93-29714D3C319E}"/>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748177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358E0-5773-223B-EDF1-90B9B635252F}"/>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AEFC2B2A-7505-1DEB-0544-FF65C3E3E3E3}"/>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graphicFrame>
        <p:nvGraphicFramePr>
          <p:cNvPr id="4" name="表 3">
            <a:extLst>
              <a:ext uri="{FF2B5EF4-FFF2-40B4-BE49-F238E27FC236}">
                <a16:creationId xmlns:a16="http://schemas.microsoft.com/office/drawing/2014/main" id="{B35A3952-770A-40A8-617A-92CEBD373ADF}"/>
              </a:ext>
            </a:extLst>
          </p:cNvPr>
          <p:cNvGraphicFramePr>
            <a:graphicFrameLocks noGrp="1"/>
          </p:cNvGraphicFramePr>
          <p:nvPr>
            <p:extLst>
              <p:ext uri="{D42A27DB-BD31-4B8C-83A1-F6EECF244321}">
                <p14:modId xmlns:p14="http://schemas.microsoft.com/office/powerpoint/2010/main" val="812762523"/>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道院のご案内</a:t>
                      </a: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a:latin typeface="Meiryo UI" panose="020B0604030504040204" pitchFamily="34" charset="-128"/>
                          <a:ea typeface="Meiryo UI" panose="020B0604030504040204" pitchFamily="34" charset="-128"/>
                        </a:rPr>
                        <a:t>修練内容</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道院のご案内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0694644D-6BE8-DD6E-8D31-724D87F811D6}"/>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83A0B593-9C20-7769-9534-A7FB858A79DA}"/>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A10F9643-7657-4AE9-7DD7-E49FA4E2E28F}"/>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8390C8E0-4DA0-025E-1F85-337E9D427365}"/>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DEE9F99F-D66E-B133-E1FD-C2AF4B6719FF}"/>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385E3461-8711-2D1B-838B-908F295DD5C4}"/>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EE88A7C0-644D-3319-76E3-92078C359A15}"/>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6" name="表 15">
            <a:extLst>
              <a:ext uri="{FF2B5EF4-FFF2-40B4-BE49-F238E27FC236}">
                <a16:creationId xmlns:a16="http://schemas.microsoft.com/office/drawing/2014/main" id="{CF4EAC32-B716-5396-56E0-8E48E72D34F0}"/>
              </a:ext>
            </a:extLst>
          </p:cNvPr>
          <p:cNvGraphicFramePr>
            <a:graphicFrameLocks noGrp="1"/>
          </p:cNvGraphicFramePr>
          <p:nvPr>
            <p:extLst>
              <p:ext uri="{D42A27DB-BD31-4B8C-83A1-F6EECF244321}">
                <p14:modId xmlns:p14="http://schemas.microsoft.com/office/powerpoint/2010/main" val="935443201"/>
              </p:ext>
            </p:extLst>
          </p:nvPr>
        </p:nvGraphicFramePr>
        <p:xfrm>
          <a:off x="4505498" y="2036618"/>
          <a:ext cx="5660968" cy="4121270"/>
        </p:xfrm>
        <a:graphic>
          <a:graphicData uri="http://schemas.openxmlformats.org/drawingml/2006/table">
            <a:tbl>
              <a:tblPr firstRow="1" bandRow="1">
                <a:tableStyleId>{5C22544A-7EE6-4342-B048-85BDC9FD1C3A}</a:tableStyleId>
              </a:tblPr>
              <a:tblGrid>
                <a:gridCol w="1155469">
                  <a:extLst>
                    <a:ext uri="{9D8B030D-6E8A-4147-A177-3AD203B41FA5}">
                      <a16:colId xmlns:a16="http://schemas.microsoft.com/office/drawing/2014/main" val="2657569459"/>
                    </a:ext>
                  </a:extLst>
                </a:gridCol>
                <a:gridCol w="723208">
                  <a:extLst>
                    <a:ext uri="{9D8B030D-6E8A-4147-A177-3AD203B41FA5}">
                      <a16:colId xmlns:a16="http://schemas.microsoft.com/office/drawing/2014/main" val="1831292052"/>
                    </a:ext>
                  </a:extLst>
                </a:gridCol>
                <a:gridCol w="3782291">
                  <a:extLst>
                    <a:ext uri="{9D8B030D-6E8A-4147-A177-3AD203B41FA5}">
                      <a16:colId xmlns:a16="http://schemas.microsoft.com/office/drawing/2014/main" val="1237125858"/>
                    </a:ext>
                  </a:extLst>
                </a:gridCol>
              </a:tblGrid>
              <a:tr h="449098">
                <a:tc gridSpan="3">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支部長のごあいさつ</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3627415129"/>
                  </a:ext>
                </a:extLst>
              </a:tr>
              <a:tr h="1449747">
                <a:tc gridSpan="2">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写真</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b="0">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支部長の略歴</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4182663"/>
                  </a:ext>
                </a:extLst>
              </a:tr>
              <a:tr h="449098">
                <a:tc gridSpan="3">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修練場所</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kumimoji="1" lang="ja-JP" altLang="en-US"/>
                    </a:p>
                  </a:txBody>
                  <a:tcPr/>
                </a:tc>
                <a:extLst>
                  <a:ext uri="{0D108BD9-81ED-4DB2-BD59-A6C34878D82A}">
                    <a16:rowId xmlns:a16="http://schemas.microsoft.com/office/drawing/2014/main" val="2676633317"/>
                  </a:ext>
                </a:extLst>
              </a:tr>
              <a:tr h="1773327">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写真</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修練場所説明</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957448536"/>
                  </a:ext>
                </a:extLst>
              </a:tr>
            </a:tbl>
          </a:graphicData>
        </a:graphic>
      </p:graphicFrame>
    </p:spTree>
    <p:extLst>
      <p:ext uri="{BB962C8B-B14F-4D97-AF65-F5344CB8AC3E}">
        <p14:creationId xmlns:p14="http://schemas.microsoft.com/office/powerpoint/2010/main" val="36871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01489-9362-E31E-E8D6-5F7A9F5EF14F}"/>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F91EC108-828F-C306-8629-3303FA56923D}"/>
              </a:ext>
            </a:extLst>
          </p:cNvPr>
          <p:cNvGraphicFramePr>
            <a:graphicFrameLocks noGrp="1"/>
          </p:cNvGraphicFramePr>
          <p:nvPr>
            <p:extLst>
              <p:ext uri="{D42A27DB-BD31-4B8C-83A1-F6EECF244321}">
                <p14:modId xmlns:p14="http://schemas.microsoft.com/office/powerpoint/2010/main" val="2002242821"/>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修練内容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8BEE1C60-AE00-EA66-61B7-A67065B17F06}"/>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8A9F33F2-00ED-D015-6FE4-101243FFDE59}"/>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4C5FFBF4-AE05-0502-7E48-529C1E0C7D33}"/>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58D0E94B-8298-6260-84B1-762390D83CCE}"/>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6F3A936B-2AC7-46D3-DEBB-2348507E0814}"/>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8908245E-8985-AA74-F820-02F349EACD0C}"/>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6F09CD95-F0A1-5AF2-26E5-D02D4F306300}"/>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50F3F1CD-7172-A752-16FD-F7829C189929}"/>
              </a:ext>
            </a:extLst>
          </p:cNvPr>
          <p:cNvGraphicFramePr>
            <a:graphicFrameLocks noGrp="1"/>
          </p:cNvGraphicFramePr>
          <p:nvPr>
            <p:extLst>
              <p:ext uri="{D42A27DB-BD31-4B8C-83A1-F6EECF244321}">
                <p14:modId xmlns:p14="http://schemas.microsoft.com/office/powerpoint/2010/main" val="2162713744"/>
              </p:ext>
            </p:extLst>
          </p:nvPr>
        </p:nvGraphicFramePr>
        <p:xfrm>
          <a:off x="4505498" y="2036618"/>
          <a:ext cx="5652655" cy="4197926"/>
        </p:xfrm>
        <a:graphic>
          <a:graphicData uri="http://schemas.openxmlformats.org/drawingml/2006/table">
            <a:tbl>
              <a:tblPr firstRow="1" bandRow="1">
                <a:tableStyleId>{5C22544A-7EE6-4342-B048-85BDC9FD1C3A}</a:tableStyleId>
              </a:tblPr>
              <a:tblGrid>
                <a:gridCol w="1955105">
                  <a:extLst>
                    <a:ext uri="{9D8B030D-6E8A-4147-A177-3AD203B41FA5}">
                      <a16:colId xmlns:a16="http://schemas.microsoft.com/office/drawing/2014/main" val="2657569459"/>
                    </a:ext>
                  </a:extLst>
                </a:gridCol>
                <a:gridCol w="1848775">
                  <a:extLst>
                    <a:ext uri="{9D8B030D-6E8A-4147-A177-3AD203B41FA5}">
                      <a16:colId xmlns:a16="http://schemas.microsoft.com/office/drawing/2014/main" val="2019557291"/>
                    </a:ext>
                  </a:extLst>
                </a:gridCol>
                <a:gridCol w="1848775">
                  <a:extLst>
                    <a:ext uri="{9D8B030D-6E8A-4147-A177-3AD203B41FA5}">
                      <a16:colId xmlns:a16="http://schemas.microsoft.com/office/drawing/2014/main" val="2830224268"/>
                    </a:ext>
                  </a:extLst>
                </a:gridCol>
              </a:tblGrid>
              <a:tr h="449098">
                <a:tc gridSpan="3">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修練日時</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tc hMerge="1">
                  <a:txBody>
                    <a:bodyPr/>
                    <a:lstStyle/>
                    <a:p>
                      <a:endParaRPr kumimoji="1" lang="ja-JP" altLang="en-US"/>
                    </a:p>
                  </a:txBody>
                  <a:tcPr/>
                </a:tc>
                <a:extLst>
                  <a:ext uri="{0D108BD9-81ED-4DB2-BD59-A6C34878D82A}">
                    <a16:rowId xmlns:a16="http://schemas.microsoft.com/office/drawing/2014/main" val="3627415129"/>
                  </a:ext>
                </a:extLst>
              </a:tr>
              <a:tr h="1449747">
                <a:tc gridSpan="3">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毎週火曜日　志木市民体育館 柔道場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7:30～9:00</a:t>
                      </a:r>
                    </a:p>
                    <a:p>
                      <a:endParaRPr kumimoji="1" lang="en-US" altLang="ja-JP" sz="1050" b="0" i="0" kern="1200" dirty="0">
                        <a:solidFill>
                          <a:schemeClr val="dk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毎週木曜日　志木市民体育館 剣道場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p>
                    <a:p>
                      <a:endParaRPr kumimoji="1" lang="en-US" altLang="ja-JP" sz="1050" b="0" i="0" kern="1200" dirty="0">
                        <a:solidFill>
                          <a:schemeClr val="dk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毎週土曜日　富士見市民総合体育館 剣道場</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6:00～7:30</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　</a:t>
                      </a: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7:30～9:00</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4182663"/>
                  </a:ext>
                </a:extLst>
              </a:tr>
              <a:tr h="449098">
                <a:tc gridSpan="3">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修練風景</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tc hMerge="1">
                  <a:txBody>
                    <a:bodyPr/>
                    <a:lstStyle/>
                    <a:p>
                      <a:endParaRPr kumimoji="1" lang="ja-JP" altLang="en-US"/>
                    </a:p>
                  </a:txBody>
                  <a:tcPr/>
                </a:tc>
                <a:extLst>
                  <a:ext uri="{0D108BD9-81ED-4DB2-BD59-A6C34878D82A}">
                    <a16:rowId xmlns:a16="http://schemas.microsoft.com/office/drawing/2014/main" val="2676633317"/>
                  </a:ext>
                </a:extLst>
              </a:tr>
              <a:tr h="536030">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957448536"/>
                  </a:ext>
                </a:extLst>
              </a:tr>
              <a:tr h="53603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37032006"/>
                  </a:ext>
                </a:extLst>
              </a:tr>
              <a:tr h="53603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40826304"/>
                  </a:ext>
                </a:extLst>
              </a:tr>
            </a:tbl>
          </a:graphicData>
        </a:graphic>
      </p:graphicFrame>
      <p:sp>
        <p:nvSpPr>
          <p:cNvPr id="16" name="タイトル 3">
            <a:extLst>
              <a:ext uri="{FF2B5EF4-FFF2-40B4-BE49-F238E27FC236}">
                <a16:creationId xmlns:a16="http://schemas.microsoft.com/office/drawing/2014/main" id="{A8B16F63-A27F-CDDF-2B79-1E060B227245}"/>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83486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D5924-456D-61CA-D320-A0AB415F14C7}"/>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0CEA1531-7DEC-7416-7A1D-DF32354B14A7}"/>
              </a:ext>
            </a:extLst>
          </p:cNvPr>
          <p:cNvGraphicFramePr>
            <a:graphicFrameLocks noGrp="1"/>
          </p:cNvGraphicFramePr>
          <p:nvPr>
            <p:extLst>
              <p:ext uri="{D42A27DB-BD31-4B8C-83A1-F6EECF244321}">
                <p14:modId xmlns:p14="http://schemas.microsoft.com/office/powerpoint/2010/main" val="1325837084"/>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修練日程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7F23DE74-C4FC-E86B-F53E-196982D9752A}"/>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0FC6377C-A7B7-D0C3-7D7A-8FDFA72B987D}"/>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B0BCC2CA-5550-0B26-85AB-AAFF889BCE6B}"/>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08A5E828-C1A9-DDE3-292E-A42ACA3AE4F9}"/>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FA9338F7-2998-EBA5-AD53-2C35A3734C80}"/>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AD36CE66-9C45-C5F8-86FA-3555405ECCB7}"/>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73C04455-7F8F-6D57-E88D-0E3A342F0CE5}"/>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61B1B9DD-1ED6-CEB5-B0CD-27254B91AC05}"/>
              </a:ext>
            </a:extLst>
          </p:cNvPr>
          <p:cNvGraphicFramePr>
            <a:graphicFrameLocks noGrp="1"/>
          </p:cNvGraphicFramePr>
          <p:nvPr/>
        </p:nvGraphicFramePr>
        <p:xfrm>
          <a:off x="4505498" y="2036618"/>
          <a:ext cx="5630530" cy="424243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657569459"/>
                    </a:ext>
                  </a:extLst>
                </a:gridCol>
                <a:gridCol w="116840">
                  <a:extLst>
                    <a:ext uri="{9D8B030D-6E8A-4147-A177-3AD203B41FA5}">
                      <a16:colId xmlns:a16="http://schemas.microsoft.com/office/drawing/2014/main" val="727909445"/>
                    </a:ext>
                  </a:extLst>
                </a:gridCol>
                <a:gridCol w="797029">
                  <a:extLst>
                    <a:ext uri="{9D8B030D-6E8A-4147-A177-3AD203B41FA5}">
                      <a16:colId xmlns:a16="http://schemas.microsoft.com/office/drawing/2014/main" val="3166146710"/>
                    </a:ext>
                  </a:extLst>
                </a:gridCol>
                <a:gridCol w="797028">
                  <a:extLst>
                    <a:ext uri="{9D8B030D-6E8A-4147-A177-3AD203B41FA5}">
                      <a16:colId xmlns:a16="http://schemas.microsoft.com/office/drawing/2014/main" val="3579805728"/>
                    </a:ext>
                  </a:extLst>
                </a:gridCol>
                <a:gridCol w="372848">
                  <a:extLst>
                    <a:ext uri="{9D8B030D-6E8A-4147-A177-3AD203B41FA5}">
                      <a16:colId xmlns:a16="http://schemas.microsoft.com/office/drawing/2014/main" val="2986663938"/>
                    </a:ext>
                  </a:extLst>
                </a:gridCol>
                <a:gridCol w="424180">
                  <a:extLst>
                    <a:ext uri="{9D8B030D-6E8A-4147-A177-3AD203B41FA5}">
                      <a16:colId xmlns:a16="http://schemas.microsoft.com/office/drawing/2014/main" val="1366686392"/>
                    </a:ext>
                  </a:extLst>
                </a:gridCol>
                <a:gridCol w="797028">
                  <a:extLst>
                    <a:ext uri="{9D8B030D-6E8A-4147-A177-3AD203B41FA5}">
                      <a16:colId xmlns:a16="http://schemas.microsoft.com/office/drawing/2014/main" val="3353703240"/>
                    </a:ext>
                  </a:extLst>
                </a:gridCol>
                <a:gridCol w="797029">
                  <a:extLst>
                    <a:ext uri="{9D8B030D-6E8A-4147-A177-3AD203B41FA5}">
                      <a16:colId xmlns:a16="http://schemas.microsoft.com/office/drawing/2014/main" val="1907596403"/>
                    </a:ext>
                  </a:extLst>
                </a:gridCol>
                <a:gridCol w="797028">
                  <a:extLst>
                    <a:ext uri="{9D8B030D-6E8A-4147-A177-3AD203B41FA5}">
                      <a16:colId xmlns:a16="http://schemas.microsoft.com/office/drawing/2014/main" val="4083220378"/>
                    </a:ext>
                  </a:extLst>
                </a:gridCol>
              </a:tblGrid>
              <a:tr h="423421">
                <a:tc gridSpan="9">
                  <a:txBody>
                    <a:bodyPr/>
                    <a:lstStyle/>
                    <a:p>
                      <a:pPr algn="l"/>
                      <a:r>
                        <a:rPr kumimoji="1" lang="ja-JP" altLang="en-US" b="0">
                          <a:solidFill>
                            <a:schemeClr val="tx1"/>
                          </a:solidFill>
                          <a:latin typeface="Meiryo UI" panose="020B0604030504040204" pitchFamily="34" charset="-128"/>
                          <a:ea typeface="Meiryo UI" panose="020B0604030504040204" pitchFamily="34" charset="-128"/>
                        </a:rPr>
                        <a:t>修練日程メモ</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27415129"/>
                  </a:ext>
                </a:extLst>
              </a:tr>
              <a:tr h="248202">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20</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84182663"/>
                  </a:ext>
                </a:extLst>
              </a:tr>
              <a:tr h="248202">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修練休みのお知らせ </a:t>
                      </a:r>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８月、９月</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61309895"/>
                  </a:ext>
                </a:extLst>
              </a:tr>
              <a:tr h="423421">
                <a:tc gridSpan="9">
                  <a:txBody>
                    <a:bodyPr/>
                    <a:lstStyle/>
                    <a:p>
                      <a:r>
                        <a:rPr kumimoji="1" lang="ja-JP" altLang="en-US" sz="1800" b="0">
                          <a:solidFill>
                            <a:schemeClr val="tx1"/>
                          </a:solidFill>
                          <a:latin typeface="Meiryo UI" panose="020B0604030504040204" pitchFamily="34" charset="-128"/>
                          <a:ea typeface="Meiryo UI" panose="020B0604030504040204" pitchFamily="34" charset="-128"/>
                        </a:rPr>
                        <a:t>修練カレンダー</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676633317"/>
                  </a:ext>
                </a:extLst>
              </a:tr>
              <a:tr h="252691">
                <a:tc gridSpan="2">
                  <a:txBody>
                    <a:bodyPr/>
                    <a:lstStyle/>
                    <a:p>
                      <a:pPr algn="ctr"/>
                      <a:r>
                        <a:rPr kumimoji="1" lang="en-US" altLang="ja-JP" sz="1050" b="0" dirty="0">
                          <a:solidFill>
                            <a:schemeClr val="tx1"/>
                          </a:solidFill>
                          <a:latin typeface="Meiryo UI" panose="020B0604030504040204" pitchFamily="34" charset="-128"/>
                          <a:ea typeface="Meiryo UI" panose="020B0604030504040204" pitchFamily="34" charset="-128"/>
                        </a:rPr>
                        <a:t>9</a:t>
                      </a:r>
                      <a:r>
                        <a:rPr kumimoji="1" lang="ja-JP" altLang="en-US" sz="1050" b="0">
                          <a:solidFill>
                            <a:schemeClr val="tx1"/>
                          </a:solidFill>
                          <a:latin typeface="Meiryo UI" panose="020B0604030504040204" pitchFamily="34" charset="-128"/>
                          <a:ea typeface="Meiryo UI" panose="020B0604030504040204" pitchFamily="34" charset="-128"/>
                        </a:rPr>
                        <a:t>月 </a:t>
                      </a:r>
                      <a:r>
                        <a:rPr kumimoji="1" lang="en-US" altLang="ja-JP" sz="1050" b="0" dirty="0">
                          <a:solidFill>
                            <a:schemeClr val="tx1"/>
                          </a:solidFill>
                          <a:latin typeface="Meiryo UI" panose="020B0604030504040204" pitchFamily="34" charset="-128"/>
                          <a:ea typeface="Meiryo UI" panose="020B0604030504040204" pitchFamily="34" charset="-128"/>
                        </a:rPr>
                        <a:t>2026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ct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今日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448536"/>
                  </a:ext>
                </a:extLst>
              </a:tr>
              <a:tr h="252691">
                <a:tc gridSpan="2">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月</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火</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水</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2">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木</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金</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土</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505193115"/>
                  </a:ext>
                </a:extLst>
              </a:tr>
              <a:tr h="252691">
                <a:tc gridSpan="2">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31</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5866705"/>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075797"/>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19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465562"/>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21</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22</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23</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24</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25</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26</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27</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6916233"/>
                  </a:ext>
                </a:extLst>
              </a:tr>
              <a:tr h="252691">
                <a:tc gridSpan="2">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28</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29</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tx1"/>
                          </a:solidFill>
                          <a:latin typeface="Meiryo UI" panose="020B0604030504040204" pitchFamily="34" charset="-128"/>
                          <a:ea typeface="Meiryo UI" panose="020B0604030504040204" pitchFamily="34" charset="-128"/>
                        </a:rPr>
                        <a:t>30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1</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2</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3</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1" lang="en-US" altLang="ja-JP" sz="1050" b="0" dirty="0">
                          <a:solidFill>
                            <a:schemeClr val="bg1">
                              <a:lumMod val="85000"/>
                            </a:schemeClr>
                          </a:solidFill>
                          <a:latin typeface="Meiryo UI" panose="020B0604030504040204" pitchFamily="34" charset="-128"/>
                          <a:ea typeface="Meiryo UI" panose="020B0604030504040204" pitchFamily="34" charset="-128"/>
                        </a:rPr>
                        <a:t>4</a:t>
                      </a:r>
                      <a:endParaRPr kumimoji="1" lang="ja-JP" altLang="en-US" sz="1050" b="0">
                        <a:solidFill>
                          <a:schemeClr val="bg1">
                            <a:lumMod val="85000"/>
                          </a:schemeClr>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7280658"/>
                  </a:ext>
                </a:extLst>
              </a:tr>
              <a:tr h="361021">
                <a:tc gridSpan="9">
                  <a:txBody>
                    <a:bodyPr/>
                    <a:lstStyle/>
                    <a:p>
                      <a:pPr algn="l"/>
                      <a:r>
                        <a:rPr kumimoji="1" lang="ja-JP" altLang="en-US" sz="1800" b="0">
                          <a:solidFill>
                            <a:schemeClr val="tx1"/>
                          </a:solidFill>
                          <a:latin typeface="Meiryo UI" panose="020B0604030504040204" pitchFamily="34" charset="-128"/>
                          <a:ea typeface="Meiryo UI" panose="020B0604030504040204" pitchFamily="34" charset="-128"/>
                        </a:rPr>
                        <a:t>年間行事</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少年少女武道錬成大会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73077739"/>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tc>
                <a:tc hMerge="1">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28939703"/>
                  </a:ext>
                </a:extLst>
              </a:tr>
              <a:tr h="252691">
                <a:tc gridSpan="5">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57698235"/>
                  </a:ext>
                </a:extLst>
              </a:tr>
            </a:tbl>
          </a:graphicData>
        </a:graphic>
      </p:graphicFrame>
      <p:sp>
        <p:nvSpPr>
          <p:cNvPr id="16" name="タイトル 3">
            <a:extLst>
              <a:ext uri="{FF2B5EF4-FFF2-40B4-BE49-F238E27FC236}">
                <a16:creationId xmlns:a16="http://schemas.microsoft.com/office/drawing/2014/main" id="{BBBED145-44A9-FA5B-5128-066565CC6AE7}"/>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731998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B9D3-1563-8C1F-E3E5-2B230F12E724}"/>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E463D8D7-0615-C9B0-FC4A-9A3D7E14F340}"/>
              </a:ext>
            </a:extLst>
          </p:cNvPr>
          <p:cNvGraphicFramePr>
            <a:graphicFrameLocks noGrp="1"/>
          </p:cNvGraphicFramePr>
          <p:nvPr>
            <p:extLst>
              <p:ext uri="{D42A27DB-BD31-4B8C-83A1-F6EECF244321}">
                <p14:modId xmlns:p14="http://schemas.microsoft.com/office/powerpoint/2010/main" val="3052366830"/>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イベント写真館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4E0791BC-0CEF-F6B7-1ACE-2E3F0BC279C5}"/>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37529AD0-6C4F-4581-8E8A-198D9CB86FE9}"/>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94FA7D20-5E67-A299-FD52-06E6C491CCD9}"/>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F968FA82-B3B6-80C6-7924-B706B92EC8EC}"/>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F690B3DB-E668-824E-2B5F-BF428ED8FD15}"/>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0C270B6C-4AAC-07B0-9143-7EDA5CC59B12}"/>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239EA835-FEC7-5DC8-66B0-3E088E557D44}"/>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FAB71C6F-6400-BE85-3CAC-226D479785EC}"/>
              </a:ext>
            </a:extLst>
          </p:cNvPr>
          <p:cNvGraphicFramePr>
            <a:graphicFrameLocks noGrp="1"/>
          </p:cNvGraphicFramePr>
          <p:nvPr>
            <p:extLst>
              <p:ext uri="{D42A27DB-BD31-4B8C-83A1-F6EECF244321}">
                <p14:modId xmlns:p14="http://schemas.microsoft.com/office/powerpoint/2010/main" val="3437472935"/>
              </p:ext>
            </p:extLst>
          </p:nvPr>
        </p:nvGraphicFramePr>
        <p:xfrm>
          <a:off x="4505498" y="2036618"/>
          <a:ext cx="5630530" cy="208272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657569459"/>
                    </a:ext>
                  </a:extLst>
                </a:gridCol>
                <a:gridCol w="4899010">
                  <a:extLst>
                    <a:ext uri="{9D8B030D-6E8A-4147-A177-3AD203B41FA5}">
                      <a16:colId xmlns:a16="http://schemas.microsoft.com/office/drawing/2014/main" val="727909445"/>
                    </a:ext>
                  </a:extLst>
                </a:gridCol>
              </a:tblGrid>
              <a:tr h="361021">
                <a:tc gridSpan="2">
                  <a:txBody>
                    <a:bodyPr/>
                    <a:lstStyle/>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埼玉鶴瀬道院、志木スポ少にて開催されましたイベントの記録を順次掲載します。道院内のイベントであり、プライバシの事もありますので、ログイン後の閲覧とさせて頂きます。</a:t>
                      </a:r>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endParaRPr kumimoji="1" lang="ja-JP" altLang="ja-JP" sz="1050" b="0" i="0" kern="1200">
                        <a:solidFill>
                          <a:schemeClr val="tx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本サイトは、大野木道院長、佐藤</a:t>
                      </a:r>
                      <a:r>
                        <a:rPr kumimoji="1" lang="ja-JP" altLang="en-US" sz="1050" b="0" i="0" kern="1200">
                          <a:solidFill>
                            <a:schemeClr val="tx1"/>
                          </a:solidFill>
                          <a:effectLst/>
                          <a:latin typeface="Meiryo UI" panose="020B0604030504040204" pitchFamily="34" charset="-128"/>
                          <a:ea typeface="Meiryo UI" panose="020B0604030504040204" pitchFamily="34" charset="-128"/>
                          <a:cs typeface="+mn-cs"/>
                        </a:rPr>
                        <a:t>支部</a:t>
                      </a: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長の承認に伴い掲載いたします。</a:t>
                      </a:r>
                    </a:p>
                    <a:p>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アカウント未登録の方は、右上のログインより新規登録にてアカウント登録をお願いします。</a:t>
                      </a:r>
                    </a:p>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252873876"/>
                  </a:ext>
                </a:extLst>
              </a:tr>
              <a:tr h="361021">
                <a:tc gridSpan="2">
                  <a:txBody>
                    <a:bodyPr/>
                    <a:lstStyle/>
                    <a:p>
                      <a:pPr algn="l"/>
                      <a:r>
                        <a:rPr kumimoji="1" lang="en-US" altLang="ja-JP" sz="1800" b="0" dirty="0">
                          <a:solidFill>
                            <a:schemeClr val="tx1"/>
                          </a:solidFill>
                          <a:latin typeface="Meiryo UI" panose="020B0604030504040204" pitchFamily="34" charset="-128"/>
                          <a:ea typeface="Meiryo UI" panose="020B0604030504040204" pitchFamily="34" charset="-128"/>
                        </a:rPr>
                        <a:t>What’s</a:t>
                      </a:r>
                      <a:r>
                        <a:rPr kumimoji="1" lang="ja-JP" altLang="en-US" sz="1800" b="0">
                          <a:solidFill>
                            <a:schemeClr val="tx1"/>
                          </a:solidFill>
                          <a:latin typeface="Meiryo UI" panose="020B0604030504040204" pitchFamily="34" charset="-128"/>
                          <a:ea typeface="Meiryo UI" panose="020B0604030504040204" pitchFamily="34" charset="-128"/>
                        </a:rPr>
                        <a:t> </a:t>
                      </a:r>
                      <a:r>
                        <a:rPr kumimoji="1" lang="en-US" altLang="ja-JP" sz="1800" b="0" dirty="0">
                          <a:solidFill>
                            <a:schemeClr val="tx1"/>
                          </a:solidFill>
                          <a:latin typeface="Meiryo UI" panose="020B0604030504040204" pitchFamily="34" charset="-128"/>
                          <a:ea typeface="Meiryo UI" panose="020B0604030504040204" pitchFamily="34" charset="-128"/>
                        </a:rPr>
                        <a:t>New</a:t>
                      </a:r>
                      <a:endParaRPr kumimoji="1" lang="ja-JP" altLang="en-US" sz="180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少年少女武道錬成大会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28939703"/>
                  </a:ext>
                </a:extLst>
              </a:tr>
            </a:tbl>
          </a:graphicData>
        </a:graphic>
      </p:graphicFrame>
      <p:sp>
        <p:nvSpPr>
          <p:cNvPr id="16" name="タイトル 3">
            <a:extLst>
              <a:ext uri="{FF2B5EF4-FFF2-40B4-BE49-F238E27FC236}">
                <a16:creationId xmlns:a16="http://schemas.microsoft.com/office/drawing/2014/main" id="{8D01C202-AAC7-9CDA-70AD-F9E3DF1649F9}"/>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40890376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85E75-B02B-DFE7-ADAB-AA28DA50AA77}"/>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CCBC0592-7066-FFF7-3720-EED73FC678B2}"/>
              </a:ext>
            </a:extLst>
          </p:cNvPr>
          <p:cNvGraphicFramePr>
            <a:graphicFrameLocks noGrp="1"/>
          </p:cNvGraphicFramePr>
          <p:nvPr>
            <p:extLst>
              <p:ext uri="{D42A27DB-BD31-4B8C-83A1-F6EECF244321}">
                <p14:modId xmlns:p14="http://schemas.microsoft.com/office/powerpoint/2010/main" val="3407458843"/>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a:t>
                      </a:r>
                      <a:r>
                        <a:rPr kumimoji="1" lang="ja-JP" altLang="en-US" sz="800" b="0">
                          <a:solidFill>
                            <a:schemeClr val="tx1"/>
                          </a:solidFill>
                          <a:latin typeface="Meiryo UI" panose="020B0604030504040204" pitchFamily="34" charset="-128"/>
                          <a:ea typeface="Meiryo UI" panose="020B0604030504040204" pitchFamily="34" charset="-128"/>
                        </a:rPr>
                        <a:t>見学・入門案内</a:t>
                      </a:r>
                      <a:endParaRPr kumimoji="1" lang="ja-JP" altLang="en-US" sz="800">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20DBF75F-7677-C152-F225-E3A8EB093EB3}"/>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EE0EDDF4-2627-2AFF-32F9-071C365D16AA}"/>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E4408FEF-C84B-60A2-1879-DA7CC58F855C}"/>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4940295C-3612-901B-64C3-AD02B6F462B4}"/>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6A9ECF53-8F4C-6614-2CC2-430D0BD9685A}"/>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FBCABE15-8D00-B9B2-CD6E-A03DAAF0C75F}"/>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947BB3E5-D08C-4607-5CA7-FDEB5F7C073B}"/>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785C72D6-137A-73B4-97B7-E03F77C6FC47}"/>
              </a:ext>
            </a:extLst>
          </p:cNvPr>
          <p:cNvGraphicFramePr>
            <a:graphicFrameLocks noGrp="1"/>
          </p:cNvGraphicFramePr>
          <p:nvPr/>
        </p:nvGraphicFramePr>
        <p:xfrm>
          <a:off x="4505498" y="2036618"/>
          <a:ext cx="5630530" cy="3931920"/>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361021">
                <a:tc gridSpan="2">
                  <a:txBody>
                    <a:bodyPr/>
                    <a:lstStyle/>
                    <a:p>
                      <a:pPr algn="l"/>
                      <a:r>
                        <a:rPr kumimoji="1" lang="ja-JP" altLang="en-US" sz="1800" b="0">
                          <a:solidFill>
                            <a:schemeClr val="tx1"/>
                          </a:solidFill>
                          <a:latin typeface="Meiryo UI" panose="020B0604030504040204" pitchFamily="34" charset="-128"/>
                          <a:ea typeface="Meiryo UI" panose="020B0604030504040204" pitchFamily="34" charset="-128"/>
                        </a:rPr>
                        <a:t>入門</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アイコン</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連絡先　大野木　憲三（道院長・責任者）</a:t>
                      </a:r>
                    </a:p>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　● 049-253-6241（自宅電話）</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　● 090-2643-2887（携帯電話）</a:t>
                      </a:r>
                      <a:b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お問い合わせフォームもご利用になれます。</a:t>
                      </a:r>
                    </a:p>
                  </a:txBody>
                  <a:tcPr>
                    <a:lnL w="12700" cmpd="sng">
                      <a:noFill/>
                    </a:lnL>
                    <a:lnR w="12700" cmpd="sng">
                      <a:noFill/>
                    </a:lnR>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252691">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体験・見学</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a:t>
                      </a:r>
                      <a:r>
                        <a:rPr kumimoji="1" lang="ja-JP" altLang="en-US" sz="1050" b="0">
                          <a:solidFill>
                            <a:schemeClr val="tx1"/>
                          </a:solidFill>
                          <a:latin typeface="Meiryo UI" panose="020B0604030504040204" pitchFamily="34" charset="-128"/>
                          <a:ea typeface="Meiryo UI" panose="020B0604030504040204" pitchFamily="34" charset="-128"/>
                        </a:rPr>
                        <a:t>アイコン</a:t>
                      </a:r>
                      <a:r>
                        <a:rPr kumimoji="1" lang="en-US" altLang="ja-JP" sz="1050" b="0" dirty="0">
                          <a:solidFill>
                            <a:schemeClr val="tx1"/>
                          </a:solidFill>
                          <a:latin typeface="Meiryo UI" panose="020B0604030504040204" pitchFamily="34" charset="-128"/>
                          <a:ea typeface="Meiryo UI" panose="020B0604030504040204" pitchFamily="34" charset="-128"/>
                        </a:rPr>
                        <a:t>]</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毎週水曜日・土曜日</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少年部　PM 6:00～8:00</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一　般　PM 7:30～9:30</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12700" cmpd="sng">
                      <a:noFill/>
                    </a:lnR>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252691">
                <a:tc gridSpan="2">
                  <a:txBody>
                    <a:bodyPr/>
                    <a:lstStyle/>
                    <a:p>
                      <a:r>
                        <a:rPr kumimoji="1" lang="ja-JP" altLang="en-US" sz="1800" b="0">
                          <a:solidFill>
                            <a:schemeClr val="tx1"/>
                          </a:solidFill>
                          <a:latin typeface="Meiryo UI" panose="020B0604030504040204" pitchFamily="34" charset="-128"/>
                          <a:ea typeface="Meiryo UI" panose="020B0604030504040204" pitchFamily="34" charset="-128"/>
                        </a:rPr>
                        <a:t>よくある質問 Ｑ＆Ａ</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252691">
                <a:tc gridSpan="2">
                  <a:txBody>
                    <a:bodyPr/>
                    <a:lstStyle/>
                    <a:p>
                      <a:r>
                        <a:rPr kumimoji="1" lang="ja-JP" altLang="ja-JP" sz="1200" b="1" i="0" kern="1200">
                          <a:solidFill>
                            <a:schemeClr val="dk1"/>
                          </a:solidFill>
                          <a:effectLst/>
                          <a:latin typeface="Meiryo UI" panose="020B0604030504040204" pitchFamily="34" charset="-128"/>
                          <a:ea typeface="Meiryo UI" panose="020B0604030504040204" pitchFamily="34" charset="-128"/>
                          <a:cs typeface="+mn-cs"/>
                        </a:rPr>
                        <a:t>仕事が忙しくて練習時間に遅れてしまう。</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みんな仕事の余暇として少林寺拳法を楽しんでおります。仕事が第一です。ですから遅れて参加、残業でお休みも自由です。自分で調整しながら参加してください。</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i="0" kern="1200">
                          <a:solidFill>
                            <a:schemeClr val="dk1"/>
                          </a:solidFill>
                          <a:effectLst/>
                          <a:latin typeface="Meiryo UI" panose="020B0604030504040204" pitchFamily="34" charset="-128"/>
                          <a:ea typeface="Meiryo UI" panose="020B0604030504040204" pitchFamily="34" charset="-128"/>
                          <a:cs typeface="+mn-cs"/>
                        </a:rPr>
                        <a:t>塾と部活があって週2回は無理なのですが。</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25269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本当は毎回の参加が望ましいのですが、他に塾や習い事があるので週1回の拳士ももちろんいます。</a:t>
                      </a:r>
                      <a:br>
                        <a:rPr lang="ja-JP" altLang="ja-JP" sz="1050">
                          <a:latin typeface="Meiryo UI" panose="020B0604030504040204" pitchFamily="34" charset="-128"/>
                          <a:ea typeface="Meiryo UI" panose="020B0604030504040204" pitchFamily="34" charset="-128"/>
                        </a:rPr>
                      </a:br>
                      <a:r>
                        <a:rPr kumimoji="1" lang="ja-JP" altLang="ja-JP" sz="1050" b="0" i="0" kern="1200">
                          <a:solidFill>
                            <a:schemeClr val="dk1"/>
                          </a:solidFill>
                          <a:effectLst/>
                          <a:latin typeface="Meiryo UI" panose="020B0604030504040204" pitchFamily="34" charset="-128"/>
                          <a:ea typeface="Meiryo UI" panose="020B0604030504040204" pitchFamily="34" charset="-128"/>
                          <a:cs typeface="+mn-cs"/>
                        </a:rPr>
                        <a:t>無理のない範囲で生活を規律づけ、スケジュール管理、毎日の勉学、修練をどうこなしていくかも修行です。</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
        <p:nvSpPr>
          <p:cNvPr id="16" name="タイトル 3">
            <a:extLst>
              <a:ext uri="{FF2B5EF4-FFF2-40B4-BE49-F238E27FC236}">
                <a16:creationId xmlns:a16="http://schemas.microsoft.com/office/drawing/2014/main" id="{DAEDA149-21CB-82FC-F983-A9F21B53061D}"/>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904303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3DBB2-E776-D96E-9C6B-82DB049324EB}"/>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648893FA-0FC9-A364-5964-881D10F00BF1}"/>
              </a:ext>
            </a:extLst>
          </p:cNvPr>
          <p:cNvGraphicFramePr>
            <a:graphicFrameLocks noGrp="1"/>
          </p:cNvGraphicFramePr>
          <p:nvPr>
            <p:extLst>
              <p:ext uri="{D42A27DB-BD31-4B8C-83A1-F6EECF244321}">
                <p14:modId xmlns:p14="http://schemas.microsoft.com/office/powerpoint/2010/main" val="1034716691"/>
              </p:ext>
            </p:extLst>
          </p:nvPr>
        </p:nvGraphicFramePr>
        <p:xfrm>
          <a:off x="2107304" y="882126"/>
          <a:ext cx="8128001" cy="5744185"/>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48254571"/>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848">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少林寺拳法</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kumimoji="1" lang="ja-JP" altLang="en-US" sz="1050">
                          <a:latin typeface="Meiryo UI" panose="020B0604030504040204" pitchFamily="34" charset="-128"/>
                          <a:ea typeface="Meiryo UI" panose="020B0604030504040204" pitchFamily="34" charset="-128"/>
                        </a:rPr>
                        <a:t>お問い合わせは</a:t>
                      </a:r>
                      <a:r>
                        <a:rPr kumimoji="1" lang="en-US" altLang="ja-JP" sz="1050" dirty="0">
                          <a:latin typeface="Meiryo UI" panose="020B0604030504040204" pitchFamily="34" charset="-128"/>
                          <a:ea typeface="Meiryo UI" panose="020B0604030504040204" pitchFamily="34" charset="-128"/>
                        </a:rPr>
                        <a:t>…</a:t>
                      </a:r>
                    </a:p>
                    <a:p>
                      <a:pPr algn="ctr"/>
                      <a:r>
                        <a:rPr kumimoji="1" lang="en-US" altLang="ja-JP" sz="1400" dirty="0">
                          <a:solidFill>
                            <a:schemeClr val="tx2">
                              <a:lumMod val="50000"/>
                              <a:lumOff val="50000"/>
                            </a:schemeClr>
                          </a:solidFill>
                          <a:latin typeface="Meiryo UI" panose="020B0604030504040204" pitchFamily="34" charset="-128"/>
                          <a:ea typeface="Meiryo UI" panose="020B0604030504040204" pitchFamily="34" charset="-128"/>
                        </a:rPr>
                        <a:t>TEL.049-253-6241</a:t>
                      </a:r>
                      <a:endParaRPr kumimoji="1" lang="ja-JP" altLang="en-US" sz="1800">
                        <a:solidFill>
                          <a:srgbClr val="FF0000"/>
                        </a:solidFill>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6862">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道院のご案内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修練内容</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修練日程</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イベント写真館</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見学・入門案内</a:t>
                      </a:r>
                    </a:p>
                  </a:txBody>
                  <a:tcPr anchor="ctr">
                    <a:lnL w="6350" cap="flat" cmpd="sng" algn="ctr">
                      <a:solidFill>
                        <a:schemeClr val="tx2">
                          <a:lumMod val="50000"/>
                          <a:lumOff val="50000"/>
                        </a:schemeClr>
                      </a:solidFill>
                      <a:prstDash val="solid"/>
                      <a:round/>
                      <a:headEnd type="none" w="med" len="med"/>
                      <a:tailEnd type="none" w="med" len="med"/>
                    </a:lnL>
                    <a:lnR w="635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お問い合わせ</a:t>
                      </a:r>
                    </a:p>
                  </a:txBody>
                  <a:tcPr anchor="ctr">
                    <a:lnL w="6350" cap="flat" cmpd="sng" algn="ctr">
                      <a:solidFill>
                        <a:schemeClr val="tx2">
                          <a:lumMod val="50000"/>
                          <a:lumOff val="50000"/>
                        </a:schemeClr>
                      </a:solidFill>
                      <a:prstDash val="solid"/>
                      <a:round/>
                      <a:headEnd type="none" w="med" len="med"/>
                      <a:tailEnd type="none" w="med" len="med"/>
                    </a:lnL>
                    <a:lnR w="12700" cap="flat" cmpd="sng" algn="ctr">
                      <a:solidFill>
                        <a:schemeClr val="tx2">
                          <a:lumMod val="50000"/>
                          <a:lumOff val="50000"/>
                        </a:schemeClr>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635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extLst>
                  <a:ext uri="{0D108BD9-81ED-4DB2-BD59-A6C34878D82A}">
                    <a16:rowId xmlns:a16="http://schemas.microsoft.com/office/drawing/2014/main" val="1426965043"/>
                  </a:ext>
                </a:extLst>
              </a:tr>
              <a:tr h="181528">
                <a:tc gridSpan="7">
                  <a:txBody>
                    <a:bodyPr/>
                    <a:lstStyle/>
                    <a:p>
                      <a:pPr algn="l"/>
                      <a:r>
                        <a:rPr kumimoji="1" lang="ja-JP" altLang="en-US" sz="800">
                          <a:latin typeface="Meiryo UI" panose="020B0604030504040204" pitchFamily="34" charset="-128"/>
                          <a:ea typeface="Meiryo UI" panose="020B0604030504040204" pitchFamily="34" charset="-128"/>
                        </a:rPr>
                        <a:t>　志木スポーツ少年団 </a:t>
                      </a:r>
                      <a:r>
                        <a:rPr kumimoji="1" lang="en-US" altLang="ja-JP" sz="800" dirty="0">
                          <a:latin typeface="Meiryo UI" panose="020B0604030504040204" pitchFamily="34" charset="-128"/>
                          <a:ea typeface="Meiryo UI" panose="020B0604030504040204" pitchFamily="34" charset="-128"/>
                        </a:rPr>
                        <a:t>/</a:t>
                      </a:r>
                      <a:r>
                        <a:rPr kumimoji="1" lang="ja-JP" altLang="en-US" sz="800">
                          <a:latin typeface="Meiryo UI" panose="020B0604030504040204" pitchFamily="34" charset="-128"/>
                          <a:ea typeface="Meiryo UI" panose="020B0604030504040204" pitchFamily="34" charset="-128"/>
                        </a:rPr>
                        <a:t>　</a:t>
                      </a:r>
                      <a:r>
                        <a:rPr kumimoji="1" lang="ja-JP" altLang="en-US" sz="800" b="0">
                          <a:solidFill>
                            <a:schemeClr val="tx1"/>
                          </a:solidFill>
                          <a:latin typeface="Meiryo UI" panose="020B0604030504040204" pitchFamily="34" charset="-128"/>
                          <a:ea typeface="Meiryo UI" panose="020B0604030504040204" pitchFamily="34" charset="-128"/>
                        </a:rPr>
                        <a:t>お問い合わせ</a:t>
                      </a:r>
                      <a:endParaRPr kumimoji="1" lang="ja-JP" altLang="en-US" sz="800">
                        <a:latin typeface="Meiryo UI" panose="020B0604030504040204" pitchFamily="34" charset="-128"/>
                        <a:ea typeface="Meiryo UI" panose="020B0604030504040204"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693315">
                <a:tc gridSpan="2">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支部長写真</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10"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1872734"/>
                  </a:ext>
                </a:extLst>
              </a:tr>
              <a:tr h="296862">
                <a:tc gridSpan="2">
                  <a:txBody>
                    <a:bodyPr/>
                    <a:lstStyle/>
                    <a:p>
                      <a:pPr algn="ctr"/>
                      <a:r>
                        <a:rPr kumimoji="1" lang="ja-JP" altLang="en-US" sz="1400" b="1">
                          <a:solidFill>
                            <a:schemeClr val="bg1"/>
                          </a:solidFill>
                          <a:latin typeface="Meiryo UI" panose="020B0604030504040204" pitchFamily="34" charset="-128"/>
                          <a:ea typeface="Meiryo UI" panose="020B0604030504040204" pitchFamily="34" charset="-128"/>
                        </a:rPr>
                        <a:t>志木スポーツ少年団</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lumOff val="50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7674888"/>
                  </a:ext>
                </a:extLst>
              </a:tr>
              <a:tr h="385323">
                <a:tc gridSpan="2">
                  <a:txBody>
                    <a:bodyPr/>
                    <a:lstStyle/>
                    <a:p>
                      <a:pPr algn="ctr"/>
                      <a:r>
                        <a:rPr kumimoji="1" lang="ja-JP" altLang="en-US" sz="1050">
                          <a:latin typeface="Meiryo UI" panose="020B0604030504040204" pitchFamily="34" charset="-128"/>
                          <a:ea typeface="Meiryo UI" panose="020B0604030504040204" pitchFamily="34" charset="-128"/>
                        </a:rPr>
                        <a:t>支部長　佐藤　勝己</a:t>
                      </a:r>
                      <a:endParaRPr kumimoji="1" lang="en-US" altLang="ja-JP" sz="1050" dirty="0">
                        <a:latin typeface="Meiryo UI" panose="020B0604030504040204" pitchFamily="34" charset="-128"/>
                        <a:ea typeface="Meiryo UI" panose="020B0604030504040204" pitchFamily="34" charset="-128"/>
                      </a:endParaRPr>
                    </a:p>
                    <a:p>
                      <a:pPr algn="ctr"/>
                      <a:r>
                        <a:rPr kumimoji="1" lang="en-US" altLang="ja-JP" sz="1050" dirty="0">
                          <a:latin typeface="Meiryo UI" panose="020B0604030504040204" pitchFamily="34" charset="-128"/>
                          <a:ea typeface="Meiryo UI" panose="020B0604030504040204" pitchFamily="34" charset="-128"/>
                        </a:rPr>
                        <a:t>TEL</a:t>
                      </a:r>
                      <a:r>
                        <a:rPr kumimoji="1" lang="ja-JP" altLang="en-US" sz="1050">
                          <a:latin typeface="Meiryo UI" panose="020B0604030504040204" pitchFamily="34" charset="-128"/>
                          <a:ea typeface="Meiryo UI" panose="020B0604030504040204" pitchFamily="34" charset="-128"/>
                        </a:rPr>
                        <a:t>　</a:t>
                      </a:r>
                      <a:r>
                        <a:rPr kumimoji="1" lang="en-US" altLang="ja-JP" sz="1050" dirty="0">
                          <a:latin typeface="Meiryo UI" panose="020B0604030504040204" pitchFamily="34" charset="-128"/>
                          <a:ea typeface="Meiryo UI" panose="020B0604030504040204" pitchFamily="34" charset="-128"/>
                        </a:rPr>
                        <a:t>090-2643-2887</a:t>
                      </a: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530991148"/>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お知らせ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39470547"/>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修練カレンダー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96862">
                <a:tc gridSpan="2">
                  <a:txBody>
                    <a:bodyPr/>
                    <a:lstStyle/>
                    <a:p>
                      <a:pPr algn="l"/>
                      <a:r>
                        <a:rPr kumimoji="1" lang="ja-JP" altLang="en-US" sz="1200">
                          <a:solidFill>
                            <a:schemeClr val="tx2">
                              <a:lumMod val="50000"/>
                              <a:lumOff val="50000"/>
                            </a:schemeClr>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96862">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96862">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136734">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96862">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　　許諾番号：17宗商第12号</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5" name="角丸四角形 4">
            <a:extLst>
              <a:ext uri="{FF2B5EF4-FFF2-40B4-BE49-F238E27FC236}">
                <a16:creationId xmlns:a16="http://schemas.microsoft.com/office/drawing/2014/main" id="{2D2DF048-536D-BFC2-7A79-CD217B163328}"/>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296900E1-A63C-0A40-933B-404004DF43FF}"/>
              </a:ext>
            </a:extLst>
          </p:cNvPr>
          <p:cNvSpPr/>
          <p:nvPr/>
        </p:nvSpPr>
        <p:spPr>
          <a:xfrm>
            <a:off x="2162288" y="3468349"/>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E1F73B72-A279-3AD9-6E21-EFDDE406132A}"/>
              </a:ext>
            </a:extLst>
          </p:cNvPr>
          <p:cNvSpPr/>
          <p:nvPr/>
        </p:nvSpPr>
        <p:spPr>
          <a:xfrm>
            <a:off x="2162288" y="3764610"/>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9886BEBD-E04A-966B-D911-D6824A0D22A0}"/>
              </a:ext>
            </a:extLst>
          </p:cNvPr>
          <p:cNvSpPr/>
          <p:nvPr/>
        </p:nvSpPr>
        <p:spPr>
          <a:xfrm>
            <a:off x="2162288" y="4060871"/>
            <a:ext cx="2125789" cy="188025"/>
          </a:xfrm>
          <a:prstGeom prst="roundRect">
            <a:avLst/>
          </a:prstGeom>
          <a:noFill/>
          <a:ln w="31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5F0F5B68-D5E9-D754-FD13-75E484622B7D}"/>
              </a:ext>
            </a:extLst>
          </p:cNvPr>
          <p:cNvSpPr/>
          <p:nvPr/>
        </p:nvSpPr>
        <p:spPr>
          <a:xfrm>
            <a:off x="2162288" y="4357132"/>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29D870DD-352E-F241-BBD4-BA52F1651775}"/>
              </a:ext>
            </a:extLst>
          </p:cNvPr>
          <p:cNvSpPr/>
          <p:nvPr/>
        </p:nvSpPr>
        <p:spPr>
          <a:xfrm>
            <a:off x="2162288" y="4653393"/>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角丸四角形 10">
            <a:extLst>
              <a:ext uri="{FF2B5EF4-FFF2-40B4-BE49-F238E27FC236}">
                <a16:creationId xmlns:a16="http://schemas.microsoft.com/office/drawing/2014/main" id="{11FE0D2D-74C5-BEB1-FC38-3F3942216662}"/>
              </a:ext>
            </a:extLst>
          </p:cNvPr>
          <p:cNvSpPr/>
          <p:nvPr/>
        </p:nvSpPr>
        <p:spPr>
          <a:xfrm>
            <a:off x="2162288" y="4949656"/>
            <a:ext cx="2125789" cy="188025"/>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AF5A4DD0-783A-6383-D73C-82C9A69ED22C}"/>
              </a:ext>
            </a:extLst>
          </p:cNvPr>
          <p:cNvGraphicFramePr>
            <a:graphicFrameLocks noGrp="1"/>
          </p:cNvGraphicFramePr>
          <p:nvPr/>
        </p:nvGraphicFramePr>
        <p:xfrm>
          <a:off x="4505498" y="2036617"/>
          <a:ext cx="5630530" cy="4164678"/>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462742">
                <a:tc gridSpan="2">
                  <a:txBody>
                    <a:bodyPr/>
                    <a:lstStyle/>
                    <a:p>
                      <a:pPr algn="l"/>
                      <a:r>
                        <a:rPr kumimoji="1" lang="ja-JP" altLang="en-US" sz="1050" b="0">
                          <a:solidFill>
                            <a:schemeClr val="tx1"/>
                          </a:solidFill>
                          <a:latin typeface="Meiryo UI" panose="020B0604030504040204" pitchFamily="34" charset="-128"/>
                          <a:ea typeface="Meiryo UI" panose="020B0604030504040204" pitchFamily="34" charset="-128"/>
                        </a:rPr>
                        <a:t>お名前</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462742">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ふりがな</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462742">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お問い合わせ種類</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462742">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メールアドレス</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462742">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郵便番号</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462742">
                <a:tc gridSpan="2">
                  <a:txBody>
                    <a:bodyPr/>
                    <a:lstStyle/>
                    <a:p>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住所</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題名</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メッセージ本文</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462742">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
        <p:nvSpPr>
          <p:cNvPr id="16" name="タイトル 3">
            <a:extLst>
              <a:ext uri="{FF2B5EF4-FFF2-40B4-BE49-F238E27FC236}">
                <a16:creationId xmlns:a16="http://schemas.microsoft.com/office/drawing/2014/main" id="{8769BD96-8C6A-7DE0-FD4A-F77C15752786}"/>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志木スポーツ少年団</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642655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AEFB7-3E39-A002-64D0-11B549C059B8}"/>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147146F8-F419-E1EC-0BA7-3F0BADF02E88}"/>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イベント写真館</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2" name="表 1">
            <a:extLst>
              <a:ext uri="{FF2B5EF4-FFF2-40B4-BE49-F238E27FC236}">
                <a16:creationId xmlns:a16="http://schemas.microsoft.com/office/drawing/2014/main" id="{1C28AC07-C5C0-76E3-C6D9-3E94A8D360CC}"/>
              </a:ext>
            </a:extLst>
          </p:cNvPr>
          <p:cNvGraphicFramePr>
            <a:graphicFrameLocks noGrp="1"/>
          </p:cNvGraphicFramePr>
          <p:nvPr>
            <p:extLst>
              <p:ext uri="{D42A27DB-BD31-4B8C-83A1-F6EECF244321}">
                <p14:modId xmlns:p14="http://schemas.microsoft.com/office/powerpoint/2010/main" val="2443738026"/>
              </p:ext>
            </p:extLst>
          </p:nvPr>
        </p:nvGraphicFramePr>
        <p:xfrm>
          <a:off x="2107304" y="882126"/>
          <a:ext cx="8128001" cy="5921632"/>
        </p:xfrm>
        <a:graphic>
          <a:graphicData uri="http://schemas.openxmlformats.org/drawingml/2006/table">
            <a:tbl>
              <a:tblPr firstRow="1" bandRow="1">
                <a:tableStyleId>{BC89EF96-8CEA-46FF-86C4-4CE0E7609802}</a:tableStyleId>
              </a:tblPr>
              <a:tblGrid>
                <a:gridCol w="2322286">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294513">
                <a:tc rowSpan="2" gridSpan="2">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イベント写真館</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4513">
                <a:tc gridSpan="2"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ホーム</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1" lang="ja-JP" altLang="en-US" sz="1050" b="0">
                          <a:latin typeface="Meiryo UI" panose="020B0604030504040204" pitchFamily="34" charset="-128"/>
                          <a:ea typeface="Meiryo UI" panose="020B0604030504040204" pitchFamily="34" charset="-128"/>
                        </a:rPr>
                        <a:t>イベント</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新規申込</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お問い合わせ</a:t>
                      </a:r>
                    </a:p>
                  </a:txBody>
                  <a:tcPr anchor="b">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371630"/>
                  </a:ext>
                </a:extLst>
              </a:tr>
              <a:tr h="879916">
                <a:tc gridSpan="6">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スライドショー</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イベント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7"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extLst>
                  <a:ext uri="{0D108BD9-81ED-4DB2-BD59-A6C34878D82A}">
                    <a16:rowId xmlns:a16="http://schemas.microsoft.com/office/drawing/2014/main" val="3739470547"/>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新規申込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323064">
                <a:tc>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2170668">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323064">
                <a:tc gridSpan="6">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4" name="角丸四角形 3">
            <a:extLst>
              <a:ext uri="{FF2B5EF4-FFF2-40B4-BE49-F238E27FC236}">
                <a16:creationId xmlns:a16="http://schemas.microsoft.com/office/drawing/2014/main" id="{E5C00006-6498-EBF3-C9EB-C1418F6C1BBC}"/>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4">
            <a:extLst>
              <a:ext uri="{FF2B5EF4-FFF2-40B4-BE49-F238E27FC236}">
                <a16:creationId xmlns:a16="http://schemas.microsoft.com/office/drawing/2014/main" id="{26935D93-6A5F-25BE-145F-D501838B1035}"/>
              </a:ext>
            </a:extLst>
          </p:cNvPr>
          <p:cNvSpPr/>
          <p:nvPr/>
        </p:nvSpPr>
        <p:spPr>
          <a:xfrm>
            <a:off x="2162288" y="2429549"/>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15283BE8-70A9-7337-70E6-6CCBB3276738}"/>
              </a:ext>
            </a:extLst>
          </p:cNvPr>
          <p:cNvSpPr/>
          <p:nvPr/>
        </p:nvSpPr>
        <p:spPr>
          <a:xfrm>
            <a:off x="2162288" y="2751089"/>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C967B487-7FCE-6AEF-AF83-A80D25BB044E}"/>
              </a:ext>
            </a:extLst>
          </p:cNvPr>
          <p:cNvSpPr/>
          <p:nvPr/>
        </p:nvSpPr>
        <p:spPr>
          <a:xfrm>
            <a:off x="2162288" y="3072629"/>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6965C9EE-1C65-3C99-A9E0-424759B73308}"/>
              </a:ext>
            </a:extLst>
          </p:cNvPr>
          <p:cNvSpPr/>
          <p:nvPr/>
        </p:nvSpPr>
        <p:spPr>
          <a:xfrm>
            <a:off x="2162288" y="3394169"/>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212EB834-79B2-B00D-A5F5-614D00FED3FB}"/>
              </a:ext>
            </a:extLst>
          </p:cNvPr>
          <p:cNvSpPr/>
          <p:nvPr/>
        </p:nvSpPr>
        <p:spPr>
          <a:xfrm>
            <a:off x="2162288" y="3715709"/>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735F7EA9-FEF6-8F3B-9C87-628545717D00}"/>
              </a:ext>
            </a:extLst>
          </p:cNvPr>
          <p:cNvSpPr/>
          <p:nvPr/>
        </p:nvSpPr>
        <p:spPr>
          <a:xfrm>
            <a:off x="2162288" y="4037247"/>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5" name="表 14">
            <a:extLst>
              <a:ext uri="{FF2B5EF4-FFF2-40B4-BE49-F238E27FC236}">
                <a16:creationId xmlns:a16="http://schemas.microsoft.com/office/drawing/2014/main" id="{C1735DE1-75E0-0E8E-F15F-F82565E4733B}"/>
              </a:ext>
            </a:extLst>
          </p:cNvPr>
          <p:cNvGraphicFramePr>
            <a:graphicFrameLocks noGrp="1"/>
          </p:cNvGraphicFramePr>
          <p:nvPr>
            <p:extLst>
              <p:ext uri="{D42A27DB-BD31-4B8C-83A1-F6EECF244321}">
                <p14:modId xmlns:p14="http://schemas.microsoft.com/office/powerpoint/2010/main" val="2279045019"/>
              </p:ext>
            </p:extLst>
          </p:nvPr>
        </p:nvGraphicFramePr>
        <p:xfrm>
          <a:off x="4665315" y="2432154"/>
          <a:ext cx="5419381" cy="3337560"/>
        </p:xfrm>
        <a:graphic>
          <a:graphicData uri="http://schemas.openxmlformats.org/drawingml/2006/table">
            <a:tbl>
              <a:tblPr firstRow="1" bandRow="1">
                <a:tableStyleId>{5C22544A-7EE6-4342-B048-85BDC9FD1C3A}</a:tableStyleId>
              </a:tblPr>
              <a:tblGrid>
                <a:gridCol w="1319849">
                  <a:extLst>
                    <a:ext uri="{9D8B030D-6E8A-4147-A177-3AD203B41FA5}">
                      <a16:colId xmlns:a16="http://schemas.microsoft.com/office/drawing/2014/main" val="3511304863"/>
                    </a:ext>
                  </a:extLst>
                </a:gridCol>
                <a:gridCol w="4099532">
                  <a:extLst>
                    <a:ext uri="{9D8B030D-6E8A-4147-A177-3AD203B41FA5}">
                      <a16:colId xmlns:a16="http://schemas.microsoft.com/office/drawing/2014/main" val="575849616"/>
                    </a:ext>
                  </a:extLst>
                </a:gridCol>
              </a:tblGrid>
              <a:tr h="370840">
                <a:tc>
                  <a:txBody>
                    <a:bodyPr/>
                    <a:lstStyle/>
                    <a:p>
                      <a:r>
                        <a:rPr kumimoji="1" lang="ja-JP" altLang="en-US" sz="1400" b="0">
                          <a:solidFill>
                            <a:schemeClr val="tx1"/>
                          </a:solidFill>
                          <a:latin typeface="Meiryo UI" panose="020B0604030504040204" pitchFamily="34" charset="-128"/>
                          <a:ea typeface="Meiryo UI" panose="020B0604030504040204" pitchFamily="34" charset="-128"/>
                        </a:rPr>
                        <a:t>イベント</a:t>
                      </a:r>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271586"/>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2</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少林寺拳法大会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12482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鏡開き ・ 入門式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21818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21</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全国大会 </a:t>
                      </a:r>
                      <a:r>
                        <a:rPr kumimoji="1" lang="en-US" altLang="ja-JP" sz="1050" b="0" dirty="0">
                          <a:solidFill>
                            <a:schemeClr val="tx1"/>
                          </a:solidFill>
                          <a:latin typeface="Meiryo UI" panose="020B0604030504040204" pitchFamily="34" charset="-128"/>
                          <a:ea typeface="Meiryo UI" panose="020B0604030504040204" pitchFamily="34" charset="-128"/>
                        </a:rPr>
                        <a:t>in</a:t>
                      </a:r>
                      <a:r>
                        <a:rPr kumimoji="1" lang="ja-JP" altLang="en-US" sz="1050" b="0">
                          <a:solidFill>
                            <a:schemeClr val="tx1"/>
                          </a:solidFill>
                          <a:latin typeface="Meiryo UI" panose="020B0604030504040204" pitchFamily="34" charset="-128"/>
                          <a:ea typeface="Meiryo UI" panose="020B0604030504040204" pitchFamily="34" charset="-128"/>
                        </a:rPr>
                        <a:t> 福岡</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50394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増進スポーツ大会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89733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少年少女錬成大会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9547950"/>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708515"/>
                  </a:ext>
                </a:extLst>
              </a:tr>
              <a:tr h="37084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493450"/>
                  </a:ext>
                </a:extLst>
              </a:tr>
              <a:tr h="37084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692383"/>
                  </a:ext>
                </a:extLst>
              </a:tr>
            </a:tbl>
          </a:graphicData>
        </a:graphic>
      </p:graphicFrame>
    </p:spTree>
    <p:extLst>
      <p:ext uri="{BB962C8B-B14F-4D97-AF65-F5344CB8AC3E}">
        <p14:creationId xmlns:p14="http://schemas.microsoft.com/office/powerpoint/2010/main" val="3819735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653E-F5AE-833B-86B7-12B52116B3ED}"/>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C385E6CF-F4AF-26E3-7F3D-C46EB3C9565D}"/>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イベント写真館</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2" name="表 1">
            <a:extLst>
              <a:ext uri="{FF2B5EF4-FFF2-40B4-BE49-F238E27FC236}">
                <a16:creationId xmlns:a16="http://schemas.microsoft.com/office/drawing/2014/main" id="{93370227-A9B1-AE1A-1F14-C59FA4E41628}"/>
              </a:ext>
            </a:extLst>
          </p:cNvPr>
          <p:cNvGraphicFramePr>
            <a:graphicFrameLocks noGrp="1"/>
          </p:cNvGraphicFramePr>
          <p:nvPr>
            <p:extLst>
              <p:ext uri="{D42A27DB-BD31-4B8C-83A1-F6EECF244321}">
                <p14:modId xmlns:p14="http://schemas.microsoft.com/office/powerpoint/2010/main" val="2202267291"/>
              </p:ext>
            </p:extLst>
          </p:nvPr>
        </p:nvGraphicFramePr>
        <p:xfrm>
          <a:off x="2107304" y="882126"/>
          <a:ext cx="8128001" cy="5293176"/>
        </p:xfrm>
        <a:graphic>
          <a:graphicData uri="http://schemas.openxmlformats.org/drawingml/2006/table">
            <a:tbl>
              <a:tblPr firstRow="1" bandRow="1">
                <a:tableStyleId>{BC89EF96-8CEA-46FF-86C4-4CE0E7609802}</a:tableStyleId>
              </a:tblPr>
              <a:tblGrid>
                <a:gridCol w="2322286">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294513">
                <a:tc rowSpan="2" gridSpan="2">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イベント写真館</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4513">
                <a:tc gridSpan="2"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050" b="0">
                          <a:latin typeface="Meiryo UI" panose="020B0604030504040204" pitchFamily="34" charset="-128"/>
                          <a:ea typeface="Meiryo UI" panose="020B0604030504040204" pitchFamily="34" charset="-128"/>
                        </a:rPr>
                        <a:t>ホーム</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イベント</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1" lang="ja-JP" altLang="en-US" sz="1050" b="0">
                          <a:latin typeface="Meiryo UI" panose="020B0604030504040204" pitchFamily="34" charset="-128"/>
                          <a:ea typeface="Meiryo UI" panose="020B0604030504040204" pitchFamily="34" charset="-128"/>
                        </a:rPr>
                        <a:t>新規申込</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お問い合わせ</a:t>
                      </a:r>
                    </a:p>
                  </a:txBody>
                  <a:tcPr anchor="b">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371630"/>
                  </a:ext>
                </a:extLst>
              </a:tr>
              <a:tr h="120943">
                <a:tc gridSpan="6">
                  <a:txBody>
                    <a:bodyPr/>
                    <a:lstStyle/>
                    <a:p>
                      <a:pPr algn="l"/>
                      <a:r>
                        <a:rPr kumimoji="1" lang="ja-JP" altLang="en-US" sz="1050">
                          <a:latin typeface="Meiryo UI" panose="020B0604030504040204" pitchFamily="34" charset="-128"/>
                          <a:ea typeface="Meiryo UI" panose="020B0604030504040204" pitchFamily="34" charset="-128"/>
                        </a:rPr>
                        <a:t>　イベント写真館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イベント</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イベント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7"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extLst>
                  <a:ext uri="{0D108BD9-81ED-4DB2-BD59-A6C34878D82A}">
                    <a16:rowId xmlns:a16="http://schemas.microsoft.com/office/drawing/2014/main" val="3739470547"/>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新規申込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323064">
                <a:tc>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2170668">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323064">
                <a:tc gridSpan="6">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4" name="角丸四角形 3">
            <a:extLst>
              <a:ext uri="{FF2B5EF4-FFF2-40B4-BE49-F238E27FC236}">
                <a16:creationId xmlns:a16="http://schemas.microsoft.com/office/drawing/2014/main" id="{4612FACF-B71F-5F6E-4DD5-1769EA8020C1}"/>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4">
            <a:extLst>
              <a:ext uri="{FF2B5EF4-FFF2-40B4-BE49-F238E27FC236}">
                <a16:creationId xmlns:a16="http://schemas.microsoft.com/office/drawing/2014/main" id="{A1C9AFBB-6306-D415-8398-23B84FE5B2DC}"/>
              </a:ext>
            </a:extLst>
          </p:cNvPr>
          <p:cNvSpPr/>
          <p:nvPr/>
        </p:nvSpPr>
        <p:spPr>
          <a:xfrm>
            <a:off x="2162288" y="179778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38F72A08-A99E-E203-5130-8F1DEE0963B8}"/>
              </a:ext>
            </a:extLst>
          </p:cNvPr>
          <p:cNvSpPr/>
          <p:nvPr/>
        </p:nvSpPr>
        <p:spPr>
          <a:xfrm>
            <a:off x="2162288" y="211932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6002208D-5D20-82F6-B82D-F8AD5E11D890}"/>
              </a:ext>
            </a:extLst>
          </p:cNvPr>
          <p:cNvSpPr/>
          <p:nvPr/>
        </p:nvSpPr>
        <p:spPr>
          <a:xfrm>
            <a:off x="2162288" y="244086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4CA70C0B-5A91-C181-5904-1EE48D0361B1}"/>
              </a:ext>
            </a:extLst>
          </p:cNvPr>
          <p:cNvSpPr/>
          <p:nvPr/>
        </p:nvSpPr>
        <p:spPr>
          <a:xfrm>
            <a:off x="2162288" y="2762401"/>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EC83362D-D56B-02D9-4514-6501D1A51353}"/>
              </a:ext>
            </a:extLst>
          </p:cNvPr>
          <p:cNvSpPr/>
          <p:nvPr/>
        </p:nvSpPr>
        <p:spPr>
          <a:xfrm>
            <a:off x="2162288" y="3083941"/>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23BC8BF6-75E8-13AA-EFD1-9C4215E2D624}"/>
              </a:ext>
            </a:extLst>
          </p:cNvPr>
          <p:cNvSpPr/>
          <p:nvPr/>
        </p:nvSpPr>
        <p:spPr>
          <a:xfrm>
            <a:off x="2162288" y="3405479"/>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5" name="表 14">
            <a:extLst>
              <a:ext uri="{FF2B5EF4-FFF2-40B4-BE49-F238E27FC236}">
                <a16:creationId xmlns:a16="http://schemas.microsoft.com/office/drawing/2014/main" id="{DCBB57ED-E15E-FD68-AB6C-50B426463B55}"/>
              </a:ext>
            </a:extLst>
          </p:cNvPr>
          <p:cNvGraphicFramePr>
            <a:graphicFrameLocks noGrp="1"/>
          </p:cNvGraphicFramePr>
          <p:nvPr>
            <p:extLst>
              <p:ext uri="{D42A27DB-BD31-4B8C-83A1-F6EECF244321}">
                <p14:modId xmlns:p14="http://schemas.microsoft.com/office/powerpoint/2010/main" val="1477095531"/>
              </p:ext>
            </p:extLst>
          </p:nvPr>
        </p:nvGraphicFramePr>
        <p:xfrm>
          <a:off x="4665315" y="1792071"/>
          <a:ext cx="5503332" cy="3337560"/>
        </p:xfrm>
        <a:graphic>
          <a:graphicData uri="http://schemas.openxmlformats.org/drawingml/2006/table">
            <a:tbl>
              <a:tblPr firstRow="1" bandRow="1">
                <a:tableStyleId>{5C22544A-7EE6-4342-B048-85BDC9FD1C3A}</a:tableStyleId>
              </a:tblPr>
              <a:tblGrid>
                <a:gridCol w="1312333">
                  <a:extLst>
                    <a:ext uri="{9D8B030D-6E8A-4147-A177-3AD203B41FA5}">
                      <a16:colId xmlns:a16="http://schemas.microsoft.com/office/drawing/2014/main" val="3511304863"/>
                    </a:ext>
                  </a:extLst>
                </a:gridCol>
                <a:gridCol w="1922828">
                  <a:extLst>
                    <a:ext uri="{9D8B030D-6E8A-4147-A177-3AD203B41FA5}">
                      <a16:colId xmlns:a16="http://schemas.microsoft.com/office/drawing/2014/main" val="575849616"/>
                    </a:ext>
                  </a:extLst>
                </a:gridCol>
                <a:gridCol w="2268171">
                  <a:extLst>
                    <a:ext uri="{9D8B030D-6E8A-4147-A177-3AD203B41FA5}">
                      <a16:colId xmlns:a16="http://schemas.microsoft.com/office/drawing/2014/main" val="1611066789"/>
                    </a:ext>
                  </a:extLst>
                </a:gridCol>
              </a:tblGrid>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2</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少林寺拳法大会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お知らせ　　　　　　　　　　　　　　　　 ー</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271586"/>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鏡開き ・ 入門式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　メンテナンス完了のお知らせ</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12482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11</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21</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全国大会 </a:t>
                      </a:r>
                      <a:r>
                        <a:rPr kumimoji="1" lang="en-US" altLang="ja-JP" sz="1050" b="0" dirty="0">
                          <a:solidFill>
                            <a:schemeClr val="tx1"/>
                          </a:solidFill>
                          <a:latin typeface="Meiryo UI" panose="020B0604030504040204" pitchFamily="34" charset="-128"/>
                          <a:ea typeface="Meiryo UI" panose="020B0604030504040204" pitchFamily="34" charset="-128"/>
                        </a:rPr>
                        <a:t>in</a:t>
                      </a:r>
                      <a:r>
                        <a:rPr kumimoji="1" lang="ja-JP" altLang="en-US" sz="1050" b="0">
                          <a:solidFill>
                            <a:schemeClr val="tx1"/>
                          </a:solidFill>
                          <a:latin typeface="Meiryo UI" panose="020B0604030504040204" pitchFamily="34" charset="-128"/>
                          <a:ea typeface="Meiryo UI" panose="020B0604030504040204" pitchFamily="34" charset="-128"/>
                        </a:rPr>
                        <a:t> 福岡</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　写真、動画の提供お願いします</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821818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増進スポーツ大会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埼玉鶴瀬道院　　　　　　　　　　　　 ー</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50394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少年少女錬成大会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　令和８年 奨励金授与式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8897335"/>
                  </a:ext>
                </a:extLst>
              </a:tr>
              <a:tr h="370840">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　令和８年 富士見市 表彰式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9547950"/>
                  </a:ext>
                </a:extLst>
              </a:tr>
              <a:tr h="37084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　大野木道院長 九段位允可 祝賀会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4708515"/>
                  </a:ext>
                </a:extLst>
              </a:tr>
              <a:tr h="37084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大会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493450"/>
                  </a:ext>
                </a:extLst>
              </a:tr>
              <a:tr h="370840">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イベント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692383"/>
                  </a:ext>
                </a:extLst>
              </a:tr>
            </a:tbl>
          </a:graphicData>
        </a:graphic>
      </p:graphicFrame>
    </p:spTree>
    <p:extLst>
      <p:ext uri="{BB962C8B-B14F-4D97-AF65-F5344CB8AC3E}">
        <p14:creationId xmlns:p14="http://schemas.microsoft.com/office/powerpoint/2010/main" val="3027524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6AD7-CFDE-5A82-DC15-FFF4B490CB8D}"/>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03804FFC-045D-A3F3-E1C7-EB3EA8DB68FE}"/>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イベント写真館</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2" name="表 1">
            <a:extLst>
              <a:ext uri="{FF2B5EF4-FFF2-40B4-BE49-F238E27FC236}">
                <a16:creationId xmlns:a16="http://schemas.microsoft.com/office/drawing/2014/main" id="{9EE36FC5-0CF4-4D09-C572-E36435A24F85}"/>
              </a:ext>
            </a:extLst>
          </p:cNvPr>
          <p:cNvGraphicFramePr>
            <a:graphicFrameLocks noGrp="1"/>
          </p:cNvGraphicFramePr>
          <p:nvPr>
            <p:extLst>
              <p:ext uri="{D42A27DB-BD31-4B8C-83A1-F6EECF244321}">
                <p14:modId xmlns:p14="http://schemas.microsoft.com/office/powerpoint/2010/main" val="178147855"/>
              </p:ext>
            </p:extLst>
          </p:nvPr>
        </p:nvGraphicFramePr>
        <p:xfrm>
          <a:off x="2107304" y="882126"/>
          <a:ext cx="8128001" cy="5293176"/>
        </p:xfrm>
        <a:graphic>
          <a:graphicData uri="http://schemas.openxmlformats.org/drawingml/2006/table">
            <a:tbl>
              <a:tblPr firstRow="1" bandRow="1">
                <a:tableStyleId>{BC89EF96-8CEA-46FF-86C4-4CE0E7609802}</a:tableStyleId>
              </a:tblPr>
              <a:tblGrid>
                <a:gridCol w="2322286">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294513">
                <a:tc rowSpan="2" gridSpan="2">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イベント写真館</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4513">
                <a:tc gridSpan="2"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050" b="0">
                          <a:latin typeface="Meiryo UI" panose="020B0604030504040204" pitchFamily="34" charset="-128"/>
                          <a:ea typeface="Meiryo UI" panose="020B0604030504040204" pitchFamily="34" charset="-128"/>
                        </a:rPr>
                        <a:t>ホーム</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イベント</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新規申込</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1" lang="ja-JP" altLang="en-US" sz="1050" b="0">
                          <a:latin typeface="Meiryo UI" panose="020B0604030504040204" pitchFamily="34" charset="-128"/>
                          <a:ea typeface="Meiryo UI" panose="020B0604030504040204" pitchFamily="34" charset="-128"/>
                        </a:rPr>
                        <a:t>お問い合わせ</a:t>
                      </a:r>
                    </a:p>
                  </a:txBody>
                  <a:tcPr anchor="b">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371630"/>
                  </a:ext>
                </a:extLst>
              </a:tr>
              <a:tr h="0">
                <a:tc gridSpan="6">
                  <a:txBody>
                    <a:bodyPr/>
                    <a:lstStyle/>
                    <a:p>
                      <a:pPr algn="l"/>
                      <a:r>
                        <a:rPr kumimoji="1" lang="ja-JP" altLang="en-US" sz="1050">
                          <a:latin typeface="Meiryo UI" panose="020B0604030504040204" pitchFamily="34" charset="-128"/>
                          <a:ea typeface="Meiryo UI" panose="020B0604030504040204" pitchFamily="34" charset="-128"/>
                        </a:rPr>
                        <a:t>　イベント写真館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イベント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7"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extLst>
                  <a:ext uri="{0D108BD9-81ED-4DB2-BD59-A6C34878D82A}">
                    <a16:rowId xmlns:a16="http://schemas.microsoft.com/office/drawing/2014/main" val="3739470547"/>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新規申込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323064">
                <a:tc>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2170668">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323064">
                <a:tc gridSpan="6">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4" name="角丸四角形 3">
            <a:extLst>
              <a:ext uri="{FF2B5EF4-FFF2-40B4-BE49-F238E27FC236}">
                <a16:creationId xmlns:a16="http://schemas.microsoft.com/office/drawing/2014/main" id="{A7A3F6B0-B823-06B8-E5E5-41C3267C9B38}"/>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4">
            <a:extLst>
              <a:ext uri="{FF2B5EF4-FFF2-40B4-BE49-F238E27FC236}">
                <a16:creationId xmlns:a16="http://schemas.microsoft.com/office/drawing/2014/main" id="{D7917F18-9D0A-0D49-5CFD-4CF97F1DED91}"/>
              </a:ext>
            </a:extLst>
          </p:cNvPr>
          <p:cNvSpPr/>
          <p:nvPr/>
        </p:nvSpPr>
        <p:spPr>
          <a:xfrm>
            <a:off x="2162288" y="1789466"/>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91BA6013-10C1-02CD-8FDC-3E1D34C45492}"/>
              </a:ext>
            </a:extLst>
          </p:cNvPr>
          <p:cNvSpPr/>
          <p:nvPr/>
        </p:nvSpPr>
        <p:spPr>
          <a:xfrm>
            <a:off x="2162288" y="2111006"/>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ED621351-CBF2-93E9-D49F-866928C8C1BC}"/>
              </a:ext>
            </a:extLst>
          </p:cNvPr>
          <p:cNvSpPr/>
          <p:nvPr/>
        </p:nvSpPr>
        <p:spPr>
          <a:xfrm>
            <a:off x="2162288" y="2432546"/>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3C167CB4-7111-F24A-A806-DE29621B7753}"/>
              </a:ext>
            </a:extLst>
          </p:cNvPr>
          <p:cNvSpPr/>
          <p:nvPr/>
        </p:nvSpPr>
        <p:spPr>
          <a:xfrm>
            <a:off x="2162288" y="2754086"/>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0540D118-A7D0-18EF-252E-E1410FAA4699}"/>
              </a:ext>
            </a:extLst>
          </p:cNvPr>
          <p:cNvSpPr/>
          <p:nvPr/>
        </p:nvSpPr>
        <p:spPr>
          <a:xfrm>
            <a:off x="2162288" y="3075626"/>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E20ADADA-5B2C-0363-DC20-BDDBDE96B6EB}"/>
              </a:ext>
            </a:extLst>
          </p:cNvPr>
          <p:cNvSpPr/>
          <p:nvPr/>
        </p:nvSpPr>
        <p:spPr>
          <a:xfrm>
            <a:off x="2162288" y="339716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94334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B3644-5AB8-31C1-E2C0-0A027172F6CC}"/>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1D135B94-BB79-3EBF-36AA-E00DC1EF2387}"/>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イベント写真館</a:t>
            </a:r>
            <a:r>
              <a:rPr lang="ja-JP" altLang="en-US" sz="1800">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2" name="表 1">
            <a:extLst>
              <a:ext uri="{FF2B5EF4-FFF2-40B4-BE49-F238E27FC236}">
                <a16:creationId xmlns:a16="http://schemas.microsoft.com/office/drawing/2014/main" id="{0CFDADBE-F019-AAAF-F31B-B2C344AC52E6}"/>
              </a:ext>
            </a:extLst>
          </p:cNvPr>
          <p:cNvGraphicFramePr>
            <a:graphicFrameLocks noGrp="1"/>
          </p:cNvGraphicFramePr>
          <p:nvPr>
            <p:extLst>
              <p:ext uri="{D42A27DB-BD31-4B8C-83A1-F6EECF244321}">
                <p14:modId xmlns:p14="http://schemas.microsoft.com/office/powerpoint/2010/main" val="3311256649"/>
              </p:ext>
            </p:extLst>
          </p:nvPr>
        </p:nvGraphicFramePr>
        <p:xfrm>
          <a:off x="2107304" y="882126"/>
          <a:ext cx="8128001" cy="5293176"/>
        </p:xfrm>
        <a:graphic>
          <a:graphicData uri="http://schemas.openxmlformats.org/drawingml/2006/table">
            <a:tbl>
              <a:tblPr firstRow="1" bandRow="1">
                <a:tableStyleId>{BC89EF96-8CEA-46FF-86C4-4CE0E7609802}</a:tableStyleId>
              </a:tblPr>
              <a:tblGrid>
                <a:gridCol w="2322286">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294513">
                <a:tc rowSpan="2" gridSpan="2">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イベント写真館</a:t>
                      </a:r>
                    </a:p>
                  </a:txBody>
                  <a:tcPr anchor="ctr">
                    <a:lnL w="1270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b">
                    <a:lnL w="63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94513">
                <a:tc gridSpan="2" vMerge="1">
                  <a:txBody>
                    <a:bodyPr/>
                    <a:lstStyle/>
                    <a:p>
                      <a:endParaRPr kumimoji="1" lang="ja-JP" altLang="en-US"/>
                    </a:p>
                  </a:txBody>
                  <a:tcPr/>
                </a:tc>
                <a:tc hMerge="1" vMerge="1">
                  <a:txBody>
                    <a:bodyPr/>
                    <a:lstStyle/>
                    <a:p>
                      <a:endParaRPr kumimoji="1" lang="ja-JP" altLang="en-US"/>
                    </a:p>
                  </a:txBody>
                  <a:tcPr/>
                </a:tc>
                <a:tc>
                  <a:txBody>
                    <a:bodyPr/>
                    <a:lstStyle/>
                    <a:p>
                      <a:pPr algn="ctr"/>
                      <a:r>
                        <a:rPr kumimoji="1" lang="ja-JP" altLang="en-US" sz="1050" b="0">
                          <a:latin typeface="Meiryo UI" panose="020B0604030504040204" pitchFamily="34" charset="-128"/>
                          <a:ea typeface="Meiryo UI" panose="020B0604030504040204" pitchFamily="34" charset="-128"/>
                        </a:rPr>
                        <a:t>ホーム</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イベント</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latin typeface="Meiryo UI" panose="020B0604030504040204" pitchFamily="34" charset="-128"/>
                          <a:ea typeface="Meiryo UI" panose="020B0604030504040204" pitchFamily="34" charset="-128"/>
                        </a:rPr>
                        <a:t>新規申込</a:t>
                      </a: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お問い合わせ</a:t>
                      </a:r>
                    </a:p>
                  </a:txBody>
                  <a:tcPr anchor="b">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3755371630"/>
                  </a:ext>
                </a:extLst>
              </a:tr>
              <a:tr h="0">
                <a:tc gridSpan="6">
                  <a:txBody>
                    <a:bodyPr/>
                    <a:lstStyle/>
                    <a:p>
                      <a:pPr algn="l"/>
                      <a:r>
                        <a:rPr kumimoji="1" lang="ja-JP" altLang="en-US" sz="1050">
                          <a:latin typeface="Meiryo UI" panose="020B0604030504040204" pitchFamily="34" charset="-128"/>
                          <a:ea typeface="Meiryo UI" panose="020B0604030504040204" pitchFamily="34" charset="-128"/>
                        </a:rPr>
                        <a:t>　イベント写真館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イベント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7"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tc rowSpan="7" hMerge="1">
                  <a:txBody>
                    <a:bodyPr/>
                    <a:lstStyle/>
                    <a:p>
                      <a:endParaRPr kumimoji="1" lang="ja-JP" altLang="en-US"/>
                    </a:p>
                  </a:txBody>
                  <a:tcPr/>
                </a:tc>
                <a:extLst>
                  <a:ext uri="{0D108BD9-81ED-4DB2-BD59-A6C34878D82A}">
                    <a16:rowId xmlns:a16="http://schemas.microsoft.com/office/drawing/2014/main" val="3739470547"/>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新規申込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323064">
                <a:tc>
                  <a:txBody>
                    <a:bodyPr/>
                    <a:lstStyle/>
                    <a:p>
                      <a:pPr algn="l"/>
                      <a:r>
                        <a:rPr kumimoji="1" lang="ja-JP" altLang="en-US" sz="1200">
                          <a:solidFill>
                            <a:schemeClr val="accent6"/>
                          </a:solidFill>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323064">
                <a:tc>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323064">
                <a:tc>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2170668">
                <a:tc>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323064">
                <a:tc gridSpan="6">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4" name="角丸四角形 3">
            <a:extLst>
              <a:ext uri="{FF2B5EF4-FFF2-40B4-BE49-F238E27FC236}">
                <a16:creationId xmlns:a16="http://schemas.microsoft.com/office/drawing/2014/main" id="{06F60757-0198-D75A-FA7C-B480B374AA02}"/>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角丸四角形 4">
            <a:extLst>
              <a:ext uri="{FF2B5EF4-FFF2-40B4-BE49-F238E27FC236}">
                <a16:creationId xmlns:a16="http://schemas.microsoft.com/office/drawing/2014/main" id="{286C1875-76FE-C7FE-7300-A87BA8CE7059}"/>
              </a:ext>
            </a:extLst>
          </p:cNvPr>
          <p:cNvSpPr/>
          <p:nvPr/>
        </p:nvSpPr>
        <p:spPr>
          <a:xfrm>
            <a:off x="2162288" y="179778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9D156973-A7CE-AABE-E29A-A7CB27D6D9BF}"/>
              </a:ext>
            </a:extLst>
          </p:cNvPr>
          <p:cNvSpPr/>
          <p:nvPr/>
        </p:nvSpPr>
        <p:spPr>
          <a:xfrm>
            <a:off x="2162288" y="211932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角丸四角形 6">
            <a:extLst>
              <a:ext uri="{FF2B5EF4-FFF2-40B4-BE49-F238E27FC236}">
                <a16:creationId xmlns:a16="http://schemas.microsoft.com/office/drawing/2014/main" id="{CE855203-13FA-7CF5-CD7A-7366A800CA0C}"/>
              </a:ext>
            </a:extLst>
          </p:cNvPr>
          <p:cNvSpPr/>
          <p:nvPr/>
        </p:nvSpPr>
        <p:spPr>
          <a:xfrm>
            <a:off x="2162288" y="2440861"/>
            <a:ext cx="2255166" cy="206827"/>
          </a:xfrm>
          <a:prstGeom prst="roundRect">
            <a:avLst/>
          </a:prstGeom>
          <a:noFill/>
          <a:ln w="31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C8765691-5B3A-1235-9B2D-8D8AE68A6BA0}"/>
              </a:ext>
            </a:extLst>
          </p:cNvPr>
          <p:cNvSpPr/>
          <p:nvPr/>
        </p:nvSpPr>
        <p:spPr>
          <a:xfrm>
            <a:off x="2162288" y="2762401"/>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2D7F906A-D263-405D-5538-C1EDB72B73D9}"/>
              </a:ext>
            </a:extLst>
          </p:cNvPr>
          <p:cNvSpPr/>
          <p:nvPr/>
        </p:nvSpPr>
        <p:spPr>
          <a:xfrm>
            <a:off x="2162288" y="3083941"/>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角丸四角形 9">
            <a:extLst>
              <a:ext uri="{FF2B5EF4-FFF2-40B4-BE49-F238E27FC236}">
                <a16:creationId xmlns:a16="http://schemas.microsoft.com/office/drawing/2014/main" id="{097E0916-4F9F-29EF-778C-D3A1C4246092}"/>
              </a:ext>
            </a:extLst>
          </p:cNvPr>
          <p:cNvSpPr/>
          <p:nvPr/>
        </p:nvSpPr>
        <p:spPr>
          <a:xfrm>
            <a:off x="2162288" y="3405479"/>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6" name="表 15">
            <a:extLst>
              <a:ext uri="{FF2B5EF4-FFF2-40B4-BE49-F238E27FC236}">
                <a16:creationId xmlns:a16="http://schemas.microsoft.com/office/drawing/2014/main" id="{E761FD98-4873-5D92-7F39-2BB95B4DC30C}"/>
              </a:ext>
            </a:extLst>
          </p:cNvPr>
          <p:cNvGraphicFramePr>
            <a:graphicFrameLocks noGrp="1"/>
          </p:cNvGraphicFramePr>
          <p:nvPr>
            <p:extLst>
              <p:ext uri="{D42A27DB-BD31-4B8C-83A1-F6EECF244321}">
                <p14:modId xmlns:p14="http://schemas.microsoft.com/office/powerpoint/2010/main" val="4154203254"/>
              </p:ext>
            </p:extLst>
          </p:nvPr>
        </p:nvGraphicFramePr>
        <p:xfrm>
          <a:off x="4454166" y="1797781"/>
          <a:ext cx="5630530" cy="3946311"/>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438479">
                <a:tc gridSpan="2">
                  <a:txBody>
                    <a:bodyPr/>
                    <a:lstStyle/>
                    <a:p>
                      <a:pPr algn="l"/>
                      <a:r>
                        <a:rPr kumimoji="1" lang="ja-JP" altLang="en-US" sz="1050" b="0">
                          <a:solidFill>
                            <a:schemeClr val="tx1"/>
                          </a:solidFill>
                          <a:latin typeface="Meiryo UI" panose="020B0604030504040204" pitchFamily="34" charset="-128"/>
                          <a:ea typeface="Meiryo UI" panose="020B0604030504040204" pitchFamily="34" charset="-128"/>
                        </a:rPr>
                        <a:t>お名前</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4384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ふりがな</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438479">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お問い合わせ種類</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4384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メールアドレス</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438479">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郵便番号</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438479">
                <a:tc gridSpan="2">
                  <a:txBody>
                    <a:bodyPr/>
                    <a:lstStyle/>
                    <a:p>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住所</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題名</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メッセージ本文</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Tree>
    <p:extLst>
      <p:ext uri="{BB962C8B-B14F-4D97-AF65-F5344CB8AC3E}">
        <p14:creationId xmlns:p14="http://schemas.microsoft.com/office/powerpoint/2010/main" val="4096438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AFDC0-B3FD-0654-FED3-4E929E3999FC}"/>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F134173D-07ED-F283-9F23-478C43CC88FC}"/>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10F25374-2A9A-9109-5C31-B82CED1EFC07}"/>
              </a:ext>
            </a:extLst>
          </p:cNvPr>
          <p:cNvGraphicFramePr>
            <a:graphicFrameLocks noGrp="1"/>
          </p:cNvGraphicFramePr>
          <p:nvPr>
            <p:extLst>
              <p:ext uri="{D42A27DB-BD31-4B8C-83A1-F6EECF244321}">
                <p14:modId xmlns:p14="http://schemas.microsoft.com/office/powerpoint/2010/main" val="463422294"/>
              </p:ext>
            </p:extLst>
          </p:nvPr>
        </p:nvGraphicFramePr>
        <p:xfrm>
          <a:off x="2107304" y="882126"/>
          <a:ext cx="8128001" cy="5871008"/>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841857">
                <a:tc gridSpan="7">
                  <a:txBody>
                    <a:bodyPr/>
                    <a:lstStyle/>
                    <a:p>
                      <a:pPr algn="ctr"/>
                      <a:r>
                        <a:rPr kumimoji="1" lang="en-US" altLang="ja-JP" sz="2400" dirty="0">
                          <a:latin typeface="Meiryo UI" panose="020B0604030504040204" pitchFamily="34" charset="-128"/>
                          <a:ea typeface="Meiryo UI" panose="020B0604030504040204" pitchFamily="34" charset="-128"/>
                        </a:rPr>
                        <a:t>[</a:t>
                      </a:r>
                      <a:r>
                        <a:rPr kumimoji="1" lang="ja-JP" altLang="en-US" sz="2400">
                          <a:latin typeface="Meiryo UI" panose="020B0604030504040204" pitchFamily="34" charset="-128"/>
                          <a:ea typeface="Meiryo UI" panose="020B0604030504040204" pitchFamily="34" charset="-128"/>
                        </a:rPr>
                        <a:t>スライドショー</a:t>
                      </a:r>
                      <a:r>
                        <a:rPr kumimoji="1" lang="en-US" altLang="ja-JP" sz="2400" dirty="0">
                          <a:latin typeface="Meiryo UI" panose="020B0604030504040204" pitchFamily="34" charset="-128"/>
                          <a:ea typeface="Meiryo UI" panose="020B0604030504040204" pitchFamily="34" charset="-128"/>
                        </a:rPr>
                        <a:t>]</a:t>
                      </a:r>
                      <a:endParaRPr kumimoji="1" lang="ja-JP" altLang="en-US" sz="240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F432D696-5D40-3F9B-391B-5A4968BFBB01}"/>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30A14AB8-0E04-12AC-8284-1FEE724141F8}"/>
              </a:ext>
            </a:extLst>
          </p:cNvPr>
          <p:cNvSpPr/>
          <p:nvPr/>
        </p:nvSpPr>
        <p:spPr>
          <a:xfrm>
            <a:off x="2162288" y="290074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DCC98A62-7756-823F-F312-067C641EE565}"/>
              </a:ext>
            </a:extLst>
          </p:cNvPr>
          <p:cNvSpPr/>
          <p:nvPr/>
        </p:nvSpPr>
        <p:spPr>
          <a:xfrm>
            <a:off x="2162288" y="318238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70DA0D00-E2C3-568C-7D8D-90225B442403}"/>
              </a:ext>
            </a:extLst>
          </p:cNvPr>
          <p:cNvSpPr/>
          <p:nvPr/>
        </p:nvSpPr>
        <p:spPr>
          <a:xfrm>
            <a:off x="2162288" y="346403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E1A522F5-B713-C342-D8C6-CB1978B9494A}"/>
              </a:ext>
            </a:extLst>
          </p:cNvPr>
          <p:cNvSpPr/>
          <p:nvPr/>
        </p:nvSpPr>
        <p:spPr>
          <a:xfrm>
            <a:off x="2162288" y="374567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DC20051F-75EE-E588-4EF2-1F018DB4A9F5}"/>
              </a:ext>
            </a:extLst>
          </p:cNvPr>
          <p:cNvSpPr/>
          <p:nvPr/>
        </p:nvSpPr>
        <p:spPr>
          <a:xfrm>
            <a:off x="2162288" y="402731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13A370C7-6C5B-51A7-B583-98025253A6AC}"/>
              </a:ext>
            </a:extLst>
          </p:cNvPr>
          <p:cNvSpPr/>
          <p:nvPr/>
        </p:nvSpPr>
        <p:spPr>
          <a:xfrm>
            <a:off x="2162288" y="430895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4CDF01A4-1BD8-A069-9AD9-7B10698F83F5}"/>
              </a:ext>
            </a:extLst>
          </p:cNvPr>
          <p:cNvSpPr/>
          <p:nvPr/>
        </p:nvSpPr>
        <p:spPr>
          <a:xfrm>
            <a:off x="2162288" y="261910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9" name="表 28">
            <a:extLst>
              <a:ext uri="{FF2B5EF4-FFF2-40B4-BE49-F238E27FC236}">
                <a16:creationId xmlns:a16="http://schemas.microsoft.com/office/drawing/2014/main" id="{81741604-E045-4CC7-AC08-E4879ABF7783}"/>
              </a:ext>
            </a:extLst>
          </p:cNvPr>
          <p:cNvGraphicFramePr>
            <a:graphicFrameLocks noGrp="1"/>
          </p:cNvGraphicFramePr>
          <p:nvPr>
            <p:extLst>
              <p:ext uri="{D42A27DB-BD31-4B8C-83A1-F6EECF244321}">
                <p14:modId xmlns:p14="http://schemas.microsoft.com/office/powerpoint/2010/main" val="194503467"/>
              </p:ext>
            </p:extLst>
          </p:nvPr>
        </p:nvGraphicFramePr>
        <p:xfrm>
          <a:off x="4538132" y="2648159"/>
          <a:ext cx="5621868" cy="1371600"/>
        </p:xfrm>
        <a:graphic>
          <a:graphicData uri="http://schemas.openxmlformats.org/drawingml/2006/table">
            <a:tbl>
              <a:tblPr firstRow="1" bandRow="1">
                <a:tableStyleId>{5C22544A-7EE6-4342-B048-85BDC9FD1C3A}</a:tableStyleId>
              </a:tblPr>
              <a:tblGrid>
                <a:gridCol w="1278468">
                  <a:extLst>
                    <a:ext uri="{9D8B030D-6E8A-4147-A177-3AD203B41FA5}">
                      <a16:colId xmlns:a16="http://schemas.microsoft.com/office/drawing/2014/main" val="78763596"/>
                    </a:ext>
                  </a:extLst>
                </a:gridCol>
                <a:gridCol w="4343400">
                  <a:extLst>
                    <a:ext uri="{9D8B030D-6E8A-4147-A177-3AD203B41FA5}">
                      <a16:colId xmlns:a16="http://schemas.microsoft.com/office/drawing/2014/main" val="3140504049"/>
                    </a:ext>
                  </a:extLst>
                </a:gridCol>
              </a:tblGrid>
              <a:tr h="144279">
                <a:tc gridSpan="2">
                  <a:txBody>
                    <a:bodyPr/>
                    <a:lstStyle/>
                    <a:p>
                      <a:r>
                        <a:rPr kumimoji="1" lang="en-US" altLang="ja-JP" b="0" dirty="0">
                          <a:solidFill>
                            <a:schemeClr val="tx1"/>
                          </a:solidFill>
                          <a:latin typeface="Meiryo UI" panose="020B0604030504040204" pitchFamily="34" charset="-128"/>
                          <a:ea typeface="Meiryo UI" panose="020B0604030504040204" pitchFamily="34" charset="-128"/>
                        </a:rPr>
                        <a:t>【</a:t>
                      </a:r>
                      <a:r>
                        <a:rPr kumimoji="1" lang="ja-JP" altLang="en-US" b="0">
                          <a:solidFill>
                            <a:schemeClr val="tx1"/>
                          </a:solidFill>
                          <a:latin typeface="Meiryo UI" panose="020B0604030504040204" pitchFamily="34" charset="-128"/>
                          <a:ea typeface="Meiryo UI" panose="020B0604030504040204" pitchFamily="34" charset="-128"/>
                        </a:rPr>
                        <a:t>新着情報</a:t>
                      </a:r>
                      <a:r>
                        <a:rPr kumimoji="1" lang="en-US" altLang="ja-JP" b="0" dirty="0">
                          <a:solidFill>
                            <a:schemeClr val="tx1"/>
                          </a:solidFill>
                          <a:latin typeface="Meiryo UI" panose="020B0604030504040204" pitchFamily="34" charset="-128"/>
                          <a:ea typeface="Meiryo UI" panose="020B0604030504040204" pitchFamily="34" charset="-128"/>
                        </a:rPr>
                        <a:t>】</a:t>
                      </a:r>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275592"/>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7</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12</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 大会結果を掲載しました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47761"/>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6</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20</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埼玉県大会 大会パンフできました</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67317"/>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948277"/>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594747"/>
                  </a:ext>
                </a:extLst>
              </a:tr>
            </a:tbl>
          </a:graphicData>
        </a:graphic>
      </p:graphicFrame>
    </p:spTree>
    <p:extLst>
      <p:ext uri="{BB962C8B-B14F-4D97-AF65-F5344CB8AC3E}">
        <p14:creationId xmlns:p14="http://schemas.microsoft.com/office/powerpoint/2010/main" val="1402355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10EF-505C-B9FB-176E-6E3611E082C4}"/>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9315CAB5-1781-389E-64EC-AB47601F6B58}"/>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D411542A-65A0-9CBB-36ED-1932AC289C50}"/>
              </a:ext>
            </a:extLst>
          </p:cNvPr>
          <p:cNvGraphicFramePr>
            <a:graphicFrameLocks noGrp="1"/>
          </p:cNvGraphicFramePr>
          <p:nvPr>
            <p:extLst>
              <p:ext uri="{D42A27DB-BD31-4B8C-83A1-F6EECF244321}">
                <p14:modId xmlns:p14="http://schemas.microsoft.com/office/powerpoint/2010/main" val="2681602047"/>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5C602E04-5773-04E2-DB28-421D7C49FDA1}"/>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4A7129B7-8C71-5B8B-EA19-04114601F8B7}"/>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29A8AA87-A432-9737-B2B3-1C068B34CB96}"/>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AD4E38D0-F86D-7FB7-67BD-5175006CD701}"/>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09E89432-3B97-604A-A6CF-D505A805EE27}"/>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12A119A4-13F7-357C-6806-90FFBDA06FBD}"/>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5FE0BEA5-1EB6-A6F9-7310-8A9EA968B543}"/>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4CB87DF0-34E4-6C6B-6DE5-B5B198B5DA12}"/>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9" name="表 28">
            <a:extLst>
              <a:ext uri="{FF2B5EF4-FFF2-40B4-BE49-F238E27FC236}">
                <a16:creationId xmlns:a16="http://schemas.microsoft.com/office/drawing/2014/main" id="{A8F724FD-F085-6483-B4AC-8DB2D606CB9E}"/>
              </a:ext>
            </a:extLst>
          </p:cNvPr>
          <p:cNvGraphicFramePr>
            <a:graphicFrameLocks noGrp="1"/>
          </p:cNvGraphicFramePr>
          <p:nvPr>
            <p:extLst>
              <p:ext uri="{D42A27DB-BD31-4B8C-83A1-F6EECF244321}">
                <p14:modId xmlns:p14="http://schemas.microsoft.com/office/powerpoint/2010/main" val="95901576"/>
              </p:ext>
            </p:extLst>
          </p:nvPr>
        </p:nvGraphicFramePr>
        <p:xfrm>
          <a:off x="4472438" y="2036717"/>
          <a:ext cx="5621868" cy="3201299"/>
        </p:xfrm>
        <a:graphic>
          <a:graphicData uri="http://schemas.openxmlformats.org/drawingml/2006/table">
            <a:tbl>
              <a:tblPr firstRow="1" bandRow="1">
                <a:tableStyleId>{5C22544A-7EE6-4342-B048-85BDC9FD1C3A}</a:tableStyleId>
              </a:tblPr>
              <a:tblGrid>
                <a:gridCol w="1396347">
                  <a:extLst>
                    <a:ext uri="{9D8B030D-6E8A-4147-A177-3AD203B41FA5}">
                      <a16:colId xmlns:a16="http://schemas.microsoft.com/office/drawing/2014/main" val="78763596"/>
                    </a:ext>
                  </a:extLst>
                </a:gridCol>
                <a:gridCol w="4225521">
                  <a:extLst>
                    <a:ext uri="{9D8B030D-6E8A-4147-A177-3AD203B41FA5}">
                      <a16:colId xmlns:a16="http://schemas.microsoft.com/office/drawing/2014/main" val="3140504049"/>
                    </a:ext>
                  </a:extLst>
                </a:gridCol>
              </a:tblGrid>
              <a:tr h="199407">
                <a:tc gridSpan="2">
                  <a:txBody>
                    <a:bodyPr/>
                    <a:lstStyle/>
                    <a:p>
                      <a:r>
                        <a:rPr kumimoji="1" lang="ja-JP" altLang="en-US" b="0">
                          <a:solidFill>
                            <a:schemeClr val="tx1"/>
                          </a:solidFill>
                          <a:latin typeface="Meiryo UI" panose="020B0604030504040204" pitchFamily="34" charset="-128"/>
                          <a:ea typeface="Meiryo UI" panose="020B0604030504040204" pitchFamily="34" charset="-128"/>
                        </a:rPr>
                        <a:t>参加申込</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275592"/>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支部名</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47761"/>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所属長名</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67317"/>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代表者メールアドレス</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948277"/>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大会参加人数</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小学生：　人、中学生：　人、高校生：　人、大学生：　人、一般　人</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594747"/>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反省会・懇親会</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参加可否：　　　　　　　　参加人数：　人</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9958490"/>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参加選手ファイル</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ファイル選択</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2895584"/>
                  </a:ext>
                </a:extLst>
              </a:tr>
              <a:tr h="405077">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事務局へメッセージ</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037919"/>
                  </a:ext>
                </a:extLst>
              </a:tr>
            </a:tbl>
          </a:graphicData>
        </a:graphic>
      </p:graphicFrame>
    </p:spTree>
    <p:extLst>
      <p:ext uri="{BB962C8B-B14F-4D97-AF65-F5344CB8AC3E}">
        <p14:creationId xmlns:p14="http://schemas.microsoft.com/office/powerpoint/2010/main" val="3685572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7842-D3B8-3070-E1AB-A2888A159276}"/>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B72BE588-834B-1DE3-5B5E-20A75173ED78}"/>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BF5F7FCB-3C75-B850-4A6E-3B6181205A94}"/>
              </a:ext>
            </a:extLst>
          </p:cNvPr>
          <p:cNvGraphicFramePr>
            <a:graphicFrameLocks noGrp="1"/>
          </p:cNvGraphicFramePr>
          <p:nvPr>
            <p:extLst>
              <p:ext uri="{D42A27DB-BD31-4B8C-83A1-F6EECF244321}">
                <p14:modId xmlns:p14="http://schemas.microsoft.com/office/powerpoint/2010/main" val="2946724200"/>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選手変更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組演武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B61F667D-4532-F7A7-F764-DB6D6CFFF21D}"/>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5565A7FD-437B-A06A-F899-003359781CE2}"/>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BB571482-CB60-F97A-C02F-16FDD0BCAAD2}"/>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BEE6ADF5-5BB6-A427-7856-3EAADBA91474}"/>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182D5F98-3281-2395-8CAB-C3DC59DCF344}"/>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E378B6EA-F5B4-BD03-E508-8A38505B5835}"/>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1700333C-646C-4095-9681-10368FBA6429}"/>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C7094ECE-CA54-5335-3462-0990F8068662}"/>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9" name="表 28">
            <a:extLst>
              <a:ext uri="{FF2B5EF4-FFF2-40B4-BE49-F238E27FC236}">
                <a16:creationId xmlns:a16="http://schemas.microsoft.com/office/drawing/2014/main" id="{C4264D40-186D-679D-2B63-3F54AB944B5B}"/>
              </a:ext>
            </a:extLst>
          </p:cNvPr>
          <p:cNvGraphicFramePr>
            <a:graphicFrameLocks noGrp="1"/>
          </p:cNvGraphicFramePr>
          <p:nvPr>
            <p:extLst>
              <p:ext uri="{D42A27DB-BD31-4B8C-83A1-F6EECF244321}">
                <p14:modId xmlns:p14="http://schemas.microsoft.com/office/powerpoint/2010/main" val="3787965936"/>
              </p:ext>
            </p:extLst>
          </p:nvPr>
        </p:nvGraphicFramePr>
        <p:xfrm>
          <a:off x="4472438" y="2036717"/>
          <a:ext cx="5621868" cy="3634740"/>
        </p:xfrm>
        <a:graphic>
          <a:graphicData uri="http://schemas.openxmlformats.org/drawingml/2006/table">
            <a:tbl>
              <a:tblPr firstRow="1" bandRow="1">
                <a:tableStyleId>{5C22544A-7EE6-4342-B048-85BDC9FD1C3A}</a:tableStyleId>
              </a:tblPr>
              <a:tblGrid>
                <a:gridCol w="1278468">
                  <a:extLst>
                    <a:ext uri="{9D8B030D-6E8A-4147-A177-3AD203B41FA5}">
                      <a16:colId xmlns:a16="http://schemas.microsoft.com/office/drawing/2014/main" val="78763596"/>
                    </a:ext>
                  </a:extLst>
                </a:gridCol>
                <a:gridCol w="4343400">
                  <a:extLst>
                    <a:ext uri="{9D8B030D-6E8A-4147-A177-3AD203B41FA5}">
                      <a16:colId xmlns:a16="http://schemas.microsoft.com/office/drawing/2014/main" val="3140504049"/>
                    </a:ext>
                  </a:extLst>
                </a:gridCol>
              </a:tblGrid>
              <a:tr h="144279">
                <a:tc gridSpan="2">
                  <a:txBody>
                    <a:bodyPr/>
                    <a:lstStyle/>
                    <a:p>
                      <a:r>
                        <a:rPr kumimoji="1" lang="ja-JP" altLang="en-US" b="0">
                          <a:solidFill>
                            <a:schemeClr val="tx1"/>
                          </a:solidFill>
                          <a:latin typeface="Meiryo UI" panose="020B0604030504040204" pitchFamily="34" charset="-128"/>
                          <a:ea typeface="Meiryo UI" panose="020B0604030504040204" pitchFamily="34" charset="-128"/>
                        </a:rPr>
                        <a:t>組演武</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275592"/>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申請者情報</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47761"/>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種別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67317"/>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支部名</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7948277"/>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選手情報１</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氏名</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594747"/>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カナ</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6182915"/>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武階</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7465922"/>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支部名</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1752641"/>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選手情報２</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氏名</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819527"/>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カナ</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4716009"/>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武階</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701447"/>
                  </a:ext>
                </a:extLst>
              </a:tr>
              <a:tr h="1442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メッセージ本文</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049471"/>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267029"/>
                  </a:ext>
                </a:extLst>
              </a:tr>
              <a:tr h="144279">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105391"/>
                  </a:ext>
                </a:extLst>
              </a:tr>
            </a:tbl>
          </a:graphicData>
        </a:graphic>
      </p:graphicFrame>
    </p:spTree>
    <p:extLst>
      <p:ext uri="{BB962C8B-B14F-4D97-AF65-F5344CB8AC3E}">
        <p14:creationId xmlns:p14="http://schemas.microsoft.com/office/powerpoint/2010/main" val="37165706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B8519-7582-9D7D-AF9D-6A5DBA69878F}"/>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5CAAF750-4A9A-73C3-95EC-B06CD5EB1E0B}"/>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991F1514-A7E3-78C0-3596-C29417C4B522}"/>
              </a:ext>
            </a:extLst>
          </p:cNvPr>
          <p:cNvGraphicFramePr>
            <a:graphicFrameLocks noGrp="1"/>
          </p:cNvGraphicFramePr>
          <p:nvPr>
            <p:extLst>
              <p:ext uri="{D42A27DB-BD31-4B8C-83A1-F6EECF244321}">
                <p14:modId xmlns:p14="http://schemas.microsoft.com/office/powerpoint/2010/main" val="2691884800"/>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3C31BDF2-5152-A685-FFBF-BA06C4B02447}"/>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2DA8936B-B0B1-57E3-7BC3-1266450D7511}"/>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1950B192-C045-AE78-23FC-1E290AD4FE6A}"/>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8579B327-20B5-24AD-A281-7F9E7501F7AB}"/>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9DA5A6D1-925F-36BF-0BE7-8D0C4BAF04C9}"/>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B1A8922B-74B9-D2C6-B75C-CAB8814ADC5A}"/>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F82AA0CA-9E0B-6EC8-BFD6-C5E2644EE4B8}"/>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EE829DDE-F22E-8E71-1447-FB7C8C423C45}"/>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9" name="表 28">
            <a:extLst>
              <a:ext uri="{FF2B5EF4-FFF2-40B4-BE49-F238E27FC236}">
                <a16:creationId xmlns:a16="http://schemas.microsoft.com/office/drawing/2014/main" id="{2DA328A0-B04D-1307-E2E6-2DF47D0B7BAE}"/>
              </a:ext>
            </a:extLst>
          </p:cNvPr>
          <p:cNvGraphicFramePr>
            <a:graphicFrameLocks noGrp="1"/>
          </p:cNvGraphicFramePr>
          <p:nvPr>
            <p:extLst>
              <p:ext uri="{D42A27DB-BD31-4B8C-83A1-F6EECF244321}">
                <p14:modId xmlns:p14="http://schemas.microsoft.com/office/powerpoint/2010/main" val="2372889297"/>
              </p:ext>
            </p:extLst>
          </p:nvPr>
        </p:nvGraphicFramePr>
        <p:xfrm>
          <a:off x="4472438" y="2036717"/>
          <a:ext cx="5621868" cy="868680"/>
        </p:xfrm>
        <a:graphic>
          <a:graphicData uri="http://schemas.openxmlformats.org/drawingml/2006/table">
            <a:tbl>
              <a:tblPr firstRow="1" bandRow="1">
                <a:tableStyleId>{5C22544A-7EE6-4342-B048-85BDC9FD1C3A}</a:tableStyleId>
              </a:tblPr>
              <a:tblGrid>
                <a:gridCol w="1278468">
                  <a:extLst>
                    <a:ext uri="{9D8B030D-6E8A-4147-A177-3AD203B41FA5}">
                      <a16:colId xmlns:a16="http://schemas.microsoft.com/office/drawing/2014/main" val="78763596"/>
                    </a:ext>
                  </a:extLst>
                </a:gridCol>
                <a:gridCol w="4343400">
                  <a:extLst>
                    <a:ext uri="{9D8B030D-6E8A-4147-A177-3AD203B41FA5}">
                      <a16:colId xmlns:a16="http://schemas.microsoft.com/office/drawing/2014/main" val="3140504049"/>
                    </a:ext>
                  </a:extLst>
                </a:gridCol>
              </a:tblGrid>
              <a:tr h="144279">
                <a:tc gridSpan="2">
                  <a:txBody>
                    <a:bodyPr/>
                    <a:lstStyle/>
                    <a:p>
                      <a:r>
                        <a:rPr kumimoji="1" lang="ja-JP" altLang="en-US" b="0">
                          <a:solidFill>
                            <a:schemeClr val="tx1"/>
                          </a:solidFill>
                          <a:latin typeface="Meiryo UI" panose="020B0604030504040204" pitchFamily="34" charset="-128"/>
                          <a:ea typeface="Meiryo UI" panose="020B0604030504040204" pitchFamily="34" charset="-128"/>
                        </a:rPr>
                        <a:t>大会結果</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275592"/>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2</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少林寺拳法大会</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47761"/>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増進スポーツ大会</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67317"/>
                  </a:ext>
                </a:extLst>
              </a:tr>
            </a:tbl>
          </a:graphicData>
        </a:graphic>
      </p:graphicFrame>
    </p:spTree>
    <p:extLst>
      <p:ext uri="{BB962C8B-B14F-4D97-AF65-F5344CB8AC3E}">
        <p14:creationId xmlns:p14="http://schemas.microsoft.com/office/powerpoint/2010/main" val="2385232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01DF9-B244-9371-516C-D09655432474}"/>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AAB767CD-C45D-A82C-5934-369A2D21F0CD}"/>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1C2016AF-134E-A9A6-FFC1-4ED4BAF0DB22}"/>
              </a:ext>
            </a:extLst>
          </p:cNvPr>
          <p:cNvGraphicFramePr>
            <a:graphicFrameLocks noGrp="1"/>
          </p:cNvGraphicFramePr>
          <p:nvPr>
            <p:extLst>
              <p:ext uri="{D42A27DB-BD31-4B8C-83A1-F6EECF244321}">
                <p14:modId xmlns:p14="http://schemas.microsoft.com/office/powerpoint/2010/main" val="1258708228"/>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イベント写真館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89DFAA23-D2CD-8F66-D836-CB81EFD44317}"/>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7D698DA3-869F-3A1F-6026-9887E8B0F0DC}"/>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4BAF52B3-0646-DE84-1FDC-E323E81C832F}"/>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3D7CDFEE-024F-0AAA-9A1F-C6ABB9C3B4AE}"/>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B516DD8D-8B97-5A92-625D-98CF4158C02B}"/>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07EB3F0D-1439-6683-F2DA-1C95101F9B48}"/>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C50DFCDD-BE55-5550-4632-B8CF5381838D}"/>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A73DE69B-A6FA-E44E-DCCD-2FA471EF2BCF}"/>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62460A72-C1D9-5A9D-8F89-55807076F8E8}"/>
              </a:ext>
            </a:extLst>
          </p:cNvPr>
          <p:cNvGraphicFramePr>
            <a:graphicFrameLocks noGrp="1"/>
          </p:cNvGraphicFramePr>
          <p:nvPr>
            <p:extLst>
              <p:ext uri="{D42A27DB-BD31-4B8C-83A1-F6EECF244321}">
                <p14:modId xmlns:p14="http://schemas.microsoft.com/office/powerpoint/2010/main" val="1844442843"/>
              </p:ext>
            </p:extLst>
          </p:nvPr>
        </p:nvGraphicFramePr>
        <p:xfrm>
          <a:off x="4505498" y="2036618"/>
          <a:ext cx="5630530" cy="2082722"/>
        </p:xfrm>
        <a:graphic>
          <a:graphicData uri="http://schemas.openxmlformats.org/drawingml/2006/table">
            <a:tbl>
              <a:tblPr firstRow="1" bandRow="1">
                <a:tableStyleId>{5C22544A-7EE6-4342-B048-85BDC9FD1C3A}</a:tableStyleId>
              </a:tblPr>
              <a:tblGrid>
                <a:gridCol w="1346662">
                  <a:extLst>
                    <a:ext uri="{9D8B030D-6E8A-4147-A177-3AD203B41FA5}">
                      <a16:colId xmlns:a16="http://schemas.microsoft.com/office/drawing/2014/main" val="2657569459"/>
                    </a:ext>
                  </a:extLst>
                </a:gridCol>
                <a:gridCol w="4283868">
                  <a:extLst>
                    <a:ext uri="{9D8B030D-6E8A-4147-A177-3AD203B41FA5}">
                      <a16:colId xmlns:a16="http://schemas.microsoft.com/office/drawing/2014/main" val="727909445"/>
                    </a:ext>
                  </a:extLst>
                </a:gridCol>
              </a:tblGrid>
              <a:tr h="361021">
                <a:tc gridSpan="2">
                  <a:txBody>
                    <a:bodyPr/>
                    <a:lstStyle/>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埼玉鶴瀬道院、志木スポ少にて開催されましたイベントの記録を順次掲載します。道院内のイベントであり、プライバシの事もありますので、ログイン後の閲覧とさせて頂きます。</a:t>
                      </a:r>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endParaRPr kumimoji="1" lang="ja-JP" altLang="ja-JP" sz="1050" b="0" i="0" kern="1200">
                        <a:solidFill>
                          <a:schemeClr val="tx1"/>
                        </a:solidFill>
                        <a:effectLst/>
                        <a:latin typeface="Meiryo UI" panose="020B0604030504040204" pitchFamily="34" charset="-128"/>
                        <a:ea typeface="Meiryo UI" panose="020B0604030504040204" pitchFamily="34" charset="-128"/>
                        <a:cs typeface="+mn-cs"/>
                      </a:endParaRPr>
                    </a:p>
                    <a:p>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本サイトは、大野木道院長、佐藤</a:t>
                      </a:r>
                      <a:r>
                        <a:rPr kumimoji="1" lang="ja-JP" altLang="en-US" sz="1050" b="0" i="0" kern="1200">
                          <a:solidFill>
                            <a:schemeClr val="tx1"/>
                          </a:solidFill>
                          <a:effectLst/>
                          <a:latin typeface="Meiryo UI" panose="020B0604030504040204" pitchFamily="34" charset="-128"/>
                          <a:ea typeface="Meiryo UI" panose="020B0604030504040204" pitchFamily="34" charset="-128"/>
                          <a:cs typeface="+mn-cs"/>
                        </a:rPr>
                        <a:t>支部</a:t>
                      </a: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長の承認に伴い掲載いたします。</a:t>
                      </a:r>
                    </a:p>
                    <a:p>
                      <a:br>
                        <a:rPr kumimoji="1" lang="en-US" altLang="ja-JP" sz="1050" b="0" i="0" kern="1200" dirty="0">
                          <a:solidFill>
                            <a:schemeClr val="tx1"/>
                          </a:solidFill>
                          <a:effectLst/>
                          <a:latin typeface="Meiryo UI" panose="020B0604030504040204" pitchFamily="34" charset="-128"/>
                          <a:ea typeface="Meiryo UI" panose="020B0604030504040204" pitchFamily="34" charset="-128"/>
                          <a:cs typeface="+mn-cs"/>
                        </a:rPr>
                      </a:br>
                      <a:r>
                        <a:rPr kumimoji="1" lang="ja-JP" altLang="ja-JP" sz="1050" b="0" i="0" kern="1200">
                          <a:solidFill>
                            <a:schemeClr val="tx1"/>
                          </a:solidFill>
                          <a:effectLst/>
                          <a:latin typeface="Meiryo UI" panose="020B0604030504040204" pitchFamily="34" charset="-128"/>
                          <a:ea typeface="Meiryo UI" panose="020B0604030504040204" pitchFamily="34" charset="-128"/>
                          <a:cs typeface="+mn-cs"/>
                        </a:rPr>
                        <a:t>アカウント未登録の方は、右上のログインより新規登録にてアカウント登録をお願いします。</a:t>
                      </a:r>
                    </a:p>
                    <a:p>
                      <a:pPr algn="l"/>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252873876"/>
                  </a:ext>
                </a:extLst>
              </a:tr>
              <a:tr h="361021">
                <a:tc gridSpan="2">
                  <a:txBody>
                    <a:bodyPr/>
                    <a:lstStyle/>
                    <a:p>
                      <a:pPr algn="l"/>
                      <a:r>
                        <a:rPr kumimoji="1" lang="en-US" altLang="ja-JP" sz="1800" b="0" dirty="0">
                          <a:solidFill>
                            <a:schemeClr val="tx1"/>
                          </a:solidFill>
                          <a:latin typeface="Meiryo UI" panose="020B0604030504040204" pitchFamily="34" charset="-128"/>
                          <a:ea typeface="Meiryo UI" panose="020B0604030504040204" pitchFamily="34" charset="-128"/>
                        </a:rPr>
                        <a:t>What’s</a:t>
                      </a:r>
                      <a:r>
                        <a:rPr kumimoji="1" lang="ja-JP" altLang="en-US" sz="1800" b="0">
                          <a:solidFill>
                            <a:schemeClr val="tx1"/>
                          </a:solidFill>
                          <a:latin typeface="Meiryo UI" panose="020B0604030504040204" pitchFamily="34" charset="-128"/>
                          <a:ea typeface="Meiryo UI" panose="020B0604030504040204" pitchFamily="34" charset="-128"/>
                        </a:rPr>
                        <a:t> </a:t>
                      </a:r>
                      <a:r>
                        <a:rPr kumimoji="1" lang="en-US" altLang="ja-JP" sz="1800" b="0" dirty="0">
                          <a:solidFill>
                            <a:schemeClr val="tx1"/>
                          </a:solidFill>
                          <a:latin typeface="Meiryo UI" panose="020B0604030504040204" pitchFamily="34" charset="-128"/>
                          <a:ea typeface="Meiryo UI" panose="020B0604030504040204" pitchFamily="34" charset="-128"/>
                        </a:rPr>
                        <a:t>New</a:t>
                      </a:r>
                      <a:endParaRPr kumimoji="1" lang="ja-JP" altLang="en-US" sz="180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3670131323"/>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2</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少林寺拳法大会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252691">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増進スポーツ大会</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28939703"/>
                  </a:ext>
                </a:extLst>
              </a:tr>
            </a:tbl>
          </a:graphicData>
        </a:graphic>
      </p:graphicFrame>
    </p:spTree>
    <p:extLst>
      <p:ext uri="{BB962C8B-B14F-4D97-AF65-F5344CB8AC3E}">
        <p14:creationId xmlns:p14="http://schemas.microsoft.com/office/powerpoint/2010/main" val="1134009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752A5-603D-E138-7E8A-6882D6FEE2EB}"/>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64B0DD05-3434-E4DB-3897-8DBBDBC09DE2}"/>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24517CC5-E50E-C2FE-C26B-F619271AEE35}"/>
              </a:ext>
            </a:extLst>
          </p:cNvPr>
          <p:cNvGraphicFramePr>
            <a:graphicFrameLocks noGrp="1"/>
          </p:cNvGraphicFramePr>
          <p:nvPr>
            <p:extLst>
              <p:ext uri="{D42A27DB-BD31-4B8C-83A1-F6EECF244321}">
                <p14:modId xmlns:p14="http://schemas.microsoft.com/office/powerpoint/2010/main" val="2085701651"/>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9BF239F7-67C0-930A-E4F6-AFF43352308C}"/>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21C07FA6-3E28-9D4E-746B-7C124572B857}"/>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F9B8C8D7-7BC5-A295-7C32-165A0A600F69}"/>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FFB17A6E-A7FE-364C-EC33-9128C64E99FD}"/>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5F1E3E29-42EA-3E7C-A221-5AACFCEAFA95}"/>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4A652888-3D75-628E-CFBD-53A4F6F16CC1}"/>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99F7EB8F-9D22-0813-FE11-8A96AF8DAFA6}"/>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ECE0D3C6-7ED1-E6FF-09BD-DC4A97D7232C}"/>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9" name="表 28">
            <a:extLst>
              <a:ext uri="{FF2B5EF4-FFF2-40B4-BE49-F238E27FC236}">
                <a16:creationId xmlns:a16="http://schemas.microsoft.com/office/drawing/2014/main" id="{D6228246-3942-DBA7-7C45-CD3A345F4ED8}"/>
              </a:ext>
            </a:extLst>
          </p:cNvPr>
          <p:cNvGraphicFramePr>
            <a:graphicFrameLocks noGrp="1"/>
          </p:cNvGraphicFramePr>
          <p:nvPr>
            <p:extLst>
              <p:ext uri="{D42A27DB-BD31-4B8C-83A1-F6EECF244321}">
                <p14:modId xmlns:p14="http://schemas.microsoft.com/office/powerpoint/2010/main" val="2237537949"/>
              </p:ext>
            </p:extLst>
          </p:nvPr>
        </p:nvGraphicFramePr>
        <p:xfrm>
          <a:off x="4472438" y="2036717"/>
          <a:ext cx="5621868" cy="868680"/>
        </p:xfrm>
        <a:graphic>
          <a:graphicData uri="http://schemas.openxmlformats.org/drawingml/2006/table">
            <a:tbl>
              <a:tblPr firstRow="1" bandRow="1">
                <a:tableStyleId>{5C22544A-7EE6-4342-B048-85BDC9FD1C3A}</a:tableStyleId>
              </a:tblPr>
              <a:tblGrid>
                <a:gridCol w="1278468">
                  <a:extLst>
                    <a:ext uri="{9D8B030D-6E8A-4147-A177-3AD203B41FA5}">
                      <a16:colId xmlns:a16="http://schemas.microsoft.com/office/drawing/2014/main" val="78763596"/>
                    </a:ext>
                  </a:extLst>
                </a:gridCol>
                <a:gridCol w="4343400">
                  <a:extLst>
                    <a:ext uri="{9D8B030D-6E8A-4147-A177-3AD203B41FA5}">
                      <a16:colId xmlns:a16="http://schemas.microsoft.com/office/drawing/2014/main" val="3140504049"/>
                    </a:ext>
                  </a:extLst>
                </a:gridCol>
              </a:tblGrid>
              <a:tr h="144279">
                <a:tc gridSpan="2">
                  <a:txBody>
                    <a:bodyPr/>
                    <a:lstStyle/>
                    <a:p>
                      <a:r>
                        <a:rPr kumimoji="1" lang="ja-JP" altLang="en-US" b="0">
                          <a:solidFill>
                            <a:schemeClr val="tx1"/>
                          </a:solidFill>
                          <a:latin typeface="Meiryo UI" panose="020B0604030504040204" pitchFamily="34" charset="-128"/>
                          <a:ea typeface="Meiryo UI" panose="020B0604030504040204" pitchFamily="34" charset="-128"/>
                        </a:rPr>
                        <a:t>大会履歴</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b="0">
                        <a:solidFill>
                          <a:schemeClr val="tx1"/>
                        </a:solidFill>
                        <a:latin typeface="Meiryo UI" panose="020B0604030504040204" pitchFamily="34" charset="-128"/>
                        <a:ea typeface="Meiryo UI" panose="020B0604030504040204" pitchFamily="34" charset="-12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275592"/>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2027</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2</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28</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少林寺拳法大会</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47761"/>
                  </a:ext>
                </a:extLst>
              </a:tr>
              <a:tr h="144279">
                <a:tc>
                  <a:txBody>
                    <a:bodyPr/>
                    <a:lstStyle/>
                    <a:p>
                      <a:r>
                        <a:rPr kumimoji="1" lang="en-US" altLang="ja-JP" sz="1050" b="0" dirty="0">
                          <a:solidFill>
                            <a:schemeClr val="tx1"/>
                          </a:solidFill>
                          <a:latin typeface="Meiryo UI" panose="020B0604030504040204" pitchFamily="34" charset="-128"/>
                          <a:ea typeface="Meiryo UI" panose="020B0604030504040204" pitchFamily="34" charset="-128"/>
                        </a:rPr>
                        <a:t>2026</a:t>
                      </a:r>
                      <a:r>
                        <a:rPr kumimoji="1" lang="ja-JP" altLang="en-US" sz="1050" b="0">
                          <a:solidFill>
                            <a:schemeClr val="tx1"/>
                          </a:solidFill>
                          <a:latin typeface="Meiryo UI" panose="020B0604030504040204" pitchFamily="34" charset="-128"/>
                          <a:ea typeface="Meiryo UI" panose="020B0604030504040204" pitchFamily="34" charset="-128"/>
                        </a:rPr>
                        <a:t>年</a:t>
                      </a:r>
                      <a:r>
                        <a:rPr kumimoji="1" lang="en-US" altLang="ja-JP" sz="1050" b="0" dirty="0">
                          <a:solidFill>
                            <a:schemeClr val="tx1"/>
                          </a:solidFill>
                          <a:latin typeface="Meiryo UI" panose="020B0604030504040204" pitchFamily="34" charset="-128"/>
                          <a:ea typeface="Meiryo UI" panose="020B0604030504040204" pitchFamily="34" charset="-128"/>
                        </a:rPr>
                        <a:t>10</a:t>
                      </a:r>
                      <a:r>
                        <a:rPr kumimoji="1" lang="ja-JP" altLang="en-US" sz="1050" b="0">
                          <a:solidFill>
                            <a:schemeClr val="tx1"/>
                          </a:solidFill>
                          <a:latin typeface="Meiryo UI" panose="020B0604030504040204" pitchFamily="34" charset="-128"/>
                          <a:ea typeface="Meiryo UI" panose="020B0604030504040204" pitchFamily="34" charset="-128"/>
                        </a:rPr>
                        <a:t>月</a:t>
                      </a:r>
                      <a:r>
                        <a:rPr kumimoji="1" lang="en-US" altLang="ja-JP" sz="1050" b="0" dirty="0">
                          <a:solidFill>
                            <a:schemeClr val="tx1"/>
                          </a:solidFill>
                          <a:latin typeface="Meiryo UI" panose="020B0604030504040204" pitchFamily="34" charset="-128"/>
                          <a:ea typeface="Meiryo UI" panose="020B0604030504040204" pitchFamily="34" charset="-128"/>
                        </a:rPr>
                        <a:t>25</a:t>
                      </a:r>
                      <a:r>
                        <a:rPr kumimoji="1" lang="ja-JP" altLang="en-US" sz="1050" b="0">
                          <a:solidFill>
                            <a:schemeClr val="tx1"/>
                          </a:solidFill>
                          <a:latin typeface="Meiryo UI" panose="020B0604030504040204" pitchFamily="34" charset="-128"/>
                          <a:ea typeface="Meiryo UI" panose="020B0604030504040204" pitchFamily="34" charset="-128"/>
                        </a:rPr>
                        <a:t>日</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増進スポーツ大会</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1967317"/>
                  </a:ext>
                </a:extLst>
              </a:tr>
            </a:tbl>
          </a:graphicData>
        </a:graphic>
      </p:graphicFrame>
    </p:spTree>
    <p:extLst>
      <p:ext uri="{BB962C8B-B14F-4D97-AF65-F5344CB8AC3E}">
        <p14:creationId xmlns:p14="http://schemas.microsoft.com/office/powerpoint/2010/main" val="3847811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2613-F0B5-CA88-E84D-7EA2236D3BF1}"/>
            </a:ext>
          </a:extLst>
        </p:cNvPr>
        <p:cNvGrpSpPr/>
        <p:nvPr/>
      </p:nvGrpSpPr>
      <p:grpSpPr>
        <a:xfrm>
          <a:off x="0" y="0"/>
          <a:ext cx="0" cy="0"/>
          <a:chOff x="0" y="0"/>
          <a:chExt cx="0" cy="0"/>
        </a:xfrm>
      </p:grpSpPr>
      <p:sp>
        <p:nvSpPr>
          <p:cNvPr id="3" name="タイトル 3">
            <a:extLst>
              <a:ext uri="{FF2B5EF4-FFF2-40B4-BE49-F238E27FC236}">
                <a16:creationId xmlns:a16="http://schemas.microsoft.com/office/drawing/2014/main" id="{0FF3C4EB-5B36-2AFA-3A1C-B1D889678AB0}"/>
              </a:ext>
            </a:extLst>
          </p:cNvPr>
          <p:cNvSpPr txBox="1">
            <a:spLocks/>
          </p:cNvSpPr>
          <p:nvPr/>
        </p:nvSpPr>
        <p:spPr>
          <a:xfrm>
            <a:off x="181984" y="160729"/>
            <a:ext cx="10515600" cy="7213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b="1">
                <a:latin typeface="Meiryo UI" panose="020B0604030504040204" pitchFamily="34" charset="-128"/>
                <a:ea typeface="Meiryo UI" panose="020B0604030504040204" pitchFamily="34" charset="-128"/>
              </a:rPr>
              <a:t>少林寺拳法大会</a:t>
            </a:r>
            <a:r>
              <a:rPr lang="ja-JP" altLang="en-US" sz="1800" b="1">
                <a:latin typeface="Meiryo UI" panose="020B0604030504040204" pitchFamily="34" charset="-128"/>
                <a:ea typeface="Meiryo UI" panose="020B0604030504040204" pitchFamily="34" charset="-128"/>
              </a:rPr>
              <a:t> </a:t>
            </a:r>
            <a:r>
              <a:rPr lang="en-US" altLang="ja-JP" sz="1800" dirty="0">
                <a:latin typeface="Meiryo UI" panose="020B0604030504040204" pitchFamily="34" charset="-128"/>
                <a:ea typeface="Meiryo UI" panose="020B0604030504040204" pitchFamily="34" charset="-128"/>
              </a:rPr>
              <a:t>【</a:t>
            </a:r>
            <a:r>
              <a:rPr lang="ja-JP" altLang="en-US" sz="1800">
                <a:latin typeface="Meiryo UI" panose="020B0604030504040204" pitchFamily="34" charset="-128"/>
                <a:ea typeface="Meiryo UI" panose="020B0604030504040204" pitchFamily="34" charset="-128"/>
              </a:rPr>
              <a:t>テンプレート</a:t>
            </a:r>
            <a:r>
              <a:rPr lang="en-US" altLang="ja-JP" sz="1800" dirty="0">
                <a:latin typeface="Meiryo UI" panose="020B0604030504040204" pitchFamily="34" charset="-128"/>
                <a:ea typeface="Meiryo UI" panose="020B0604030504040204" pitchFamily="34" charset="-128"/>
              </a:rPr>
              <a:t>】</a:t>
            </a:r>
            <a:endParaRPr lang="ja-JP" altLang="en-US" sz="1800" b="1">
              <a:latin typeface="Meiryo UI" panose="020B0604030504040204" pitchFamily="34" charset="-128"/>
              <a:ea typeface="Meiryo UI" panose="020B0604030504040204" pitchFamily="34" charset="-128"/>
            </a:endParaRPr>
          </a:p>
        </p:txBody>
      </p:sp>
      <p:graphicFrame>
        <p:nvGraphicFramePr>
          <p:cNvPr id="15" name="表 14">
            <a:extLst>
              <a:ext uri="{FF2B5EF4-FFF2-40B4-BE49-F238E27FC236}">
                <a16:creationId xmlns:a16="http://schemas.microsoft.com/office/drawing/2014/main" id="{B2BD4A00-746E-770C-9828-2BF60A935D4E}"/>
              </a:ext>
            </a:extLst>
          </p:cNvPr>
          <p:cNvGraphicFramePr>
            <a:graphicFrameLocks noGrp="1"/>
          </p:cNvGraphicFramePr>
          <p:nvPr>
            <p:extLst>
              <p:ext uri="{D42A27DB-BD31-4B8C-83A1-F6EECF244321}">
                <p14:modId xmlns:p14="http://schemas.microsoft.com/office/powerpoint/2010/main" val="169515138"/>
              </p:ext>
            </p:extLst>
          </p:nvPr>
        </p:nvGraphicFramePr>
        <p:xfrm>
          <a:off x="2107304" y="882126"/>
          <a:ext cx="8128001" cy="5280611"/>
        </p:xfrm>
        <a:graphic>
          <a:graphicData uri="http://schemas.openxmlformats.org/drawingml/2006/table">
            <a:tbl>
              <a:tblPr firstRow="1" bandRow="1">
                <a:tableStyleId>{BC89EF96-8CEA-46FF-86C4-4CE0E7609802}</a:tableStyleId>
              </a:tblPr>
              <a:tblGrid>
                <a:gridCol w="1161143">
                  <a:extLst>
                    <a:ext uri="{9D8B030D-6E8A-4147-A177-3AD203B41FA5}">
                      <a16:colId xmlns:a16="http://schemas.microsoft.com/office/drawing/2014/main" val="4094572416"/>
                    </a:ext>
                  </a:extLst>
                </a:gridCol>
                <a:gridCol w="1161143">
                  <a:extLst>
                    <a:ext uri="{9D8B030D-6E8A-4147-A177-3AD203B41FA5}">
                      <a16:colId xmlns:a16="http://schemas.microsoft.com/office/drawing/2014/main" val="2081258630"/>
                    </a:ext>
                  </a:extLst>
                </a:gridCol>
                <a:gridCol w="1161143">
                  <a:extLst>
                    <a:ext uri="{9D8B030D-6E8A-4147-A177-3AD203B41FA5}">
                      <a16:colId xmlns:a16="http://schemas.microsoft.com/office/drawing/2014/main" val="489665753"/>
                    </a:ext>
                  </a:extLst>
                </a:gridCol>
                <a:gridCol w="1161143">
                  <a:extLst>
                    <a:ext uri="{9D8B030D-6E8A-4147-A177-3AD203B41FA5}">
                      <a16:colId xmlns:a16="http://schemas.microsoft.com/office/drawing/2014/main" val="3414459147"/>
                    </a:ext>
                  </a:extLst>
                </a:gridCol>
                <a:gridCol w="1161143">
                  <a:extLst>
                    <a:ext uri="{9D8B030D-6E8A-4147-A177-3AD203B41FA5}">
                      <a16:colId xmlns:a16="http://schemas.microsoft.com/office/drawing/2014/main" val="3556974975"/>
                    </a:ext>
                  </a:extLst>
                </a:gridCol>
                <a:gridCol w="1161143">
                  <a:extLst>
                    <a:ext uri="{9D8B030D-6E8A-4147-A177-3AD203B41FA5}">
                      <a16:colId xmlns:a16="http://schemas.microsoft.com/office/drawing/2014/main" val="3671954073"/>
                    </a:ext>
                  </a:extLst>
                </a:gridCol>
                <a:gridCol w="1161143">
                  <a:extLst>
                    <a:ext uri="{9D8B030D-6E8A-4147-A177-3AD203B41FA5}">
                      <a16:colId xmlns:a16="http://schemas.microsoft.com/office/drawing/2014/main" val="1362826667"/>
                    </a:ext>
                  </a:extLst>
                </a:gridCol>
              </a:tblGrid>
              <a:tr h="570052">
                <a:tc gridSpan="3">
                  <a:txBody>
                    <a:bodyPr/>
                    <a:lstStyle/>
                    <a:p>
                      <a:pPr algn="l"/>
                      <a:r>
                        <a:rPr kumimoji="1" lang="ja-JP" altLang="en-US" sz="1400">
                          <a:latin typeface="Meiryo UI" panose="020B0604030504040204" pitchFamily="34" charset="-128"/>
                          <a:ea typeface="Meiryo UI" panose="020B0604030504040204" pitchFamily="34" charset="-128"/>
                        </a:rPr>
                        <a:t> 　　　 </a:t>
                      </a:r>
                      <a:r>
                        <a:rPr kumimoji="1" lang="ja-JP" altLang="en-US" sz="1200">
                          <a:latin typeface="Meiryo UI" panose="020B0604030504040204" pitchFamily="34" charset="-128"/>
                          <a:ea typeface="Meiryo UI" panose="020B0604030504040204" pitchFamily="34" charset="-128"/>
                        </a:rPr>
                        <a:t>埼玉鶴瀬、志木スポ少</a:t>
                      </a:r>
                      <a:endParaRPr kumimoji="1" lang="en-US" altLang="ja-JP" sz="1400" dirty="0">
                        <a:latin typeface="Meiryo UI" panose="020B0604030504040204" pitchFamily="34" charset="-128"/>
                        <a:ea typeface="Meiryo UI" panose="020B0604030504040204" pitchFamily="34" charset="-128"/>
                      </a:endParaRPr>
                    </a:p>
                    <a:p>
                      <a:pPr algn="l"/>
                      <a:r>
                        <a:rPr kumimoji="1" lang="ja-JP" altLang="en-US" sz="1400">
                          <a:latin typeface="Meiryo UI" panose="020B0604030504040204" pitchFamily="34" charset="-128"/>
                          <a:ea typeface="Meiryo UI" panose="020B0604030504040204" pitchFamily="34" charset="-128"/>
                        </a:rPr>
                        <a:t> 　　　 </a:t>
                      </a:r>
                      <a:r>
                        <a:rPr kumimoji="1" lang="ja-JP" altLang="en-US" sz="2000">
                          <a:latin typeface="Meiryo UI" panose="020B0604030504040204" pitchFamily="34" charset="-128"/>
                          <a:ea typeface="Meiryo UI" panose="020B0604030504040204" pitchFamily="34" charset="-128"/>
                        </a:rPr>
                        <a:t>少林寺拳法大会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kumimoji="1" lang="ja-JP" altLang="en-US" sz="1050" b="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019107"/>
                  </a:ext>
                </a:extLst>
              </a:tr>
              <a:tr h="235147">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ホーム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参加申込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選手変更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大会結果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写真館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0">
                          <a:solidFill>
                            <a:schemeClr val="tx1"/>
                          </a:solidFill>
                          <a:latin typeface="Meiryo UI" panose="020B0604030504040204" pitchFamily="34" charset="-128"/>
                          <a:ea typeface="Meiryo UI" panose="020B0604030504040204" pitchFamily="34" charset="-128"/>
                        </a:rPr>
                        <a:t>大会履歴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1" lang="ja-JP" altLang="en-US" sz="1050" b="1">
                          <a:solidFill>
                            <a:schemeClr val="bg1"/>
                          </a:solidFill>
                          <a:latin typeface="Meiryo UI" panose="020B0604030504040204" pitchFamily="34" charset="-128"/>
                          <a:ea typeface="Meiryo UI" panose="020B0604030504040204" pitchFamily="34" charset="-128"/>
                        </a:rPr>
                        <a:t>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25443567"/>
                  </a:ext>
                </a:extLst>
              </a:tr>
              <a:tr h="0">
                <a:tc gridSpan="7">
                  <a:txBody>
                    <a:bodyPr/>
                    <a:lstStyle/>
                    <a:p>
                      <a:pPr algn="l"/>
                      <a:r>
                        <a:rPr kumimoji="1" lang="ja-JP" altLang="en-US" sz="1050">
                          <a:latin typeface="Meiryo UI" panose="020B0604030504040204" pitchFamily="34" charset="-128"/>
                          <a:ea typeface="Meiryo UI" panose="020B0604030504040204" pitchFamily="34" charset="-128"/>
                        </a:rPr>
                        <a:t>　少林寺拳法大会 </a:t>
                      </a:r>
                      <a:r>
                        <a:rPr kumimoji="1" lang="en-US" altLang="ja-JP" sz="1050" dirty="0">
                          <a:latin typeface="Meiryo UI" panose="020B0604030504040204" pitchFamily="34" charset="-128"/>
                          <a:ea typeface="Meiryo UI" panose="020B0604030504040204" pitchFamily="34" charset="-128"/>
                        </a:rPr>
                        <a:t>/</a:t>
                      </a:r>
                      <a:r>
                        <a:rPr kumimoji="1" lang="ja-JP" altLang="en-US" sz="1050">
                          <a:latin typeface="Meiryo UI" panose="020B0604030504040204" pitchFamily="34" charset="-128"/>
                          <a:ea typeface="Meiryo UI" panose="020B0604030504040204" pitchFamily="34" charset="-128"/>
                        </a:rPr>
                        <a:t>　お問い合わせ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1933131"/>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参加申込</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rowSpan="8" gridSpan="5">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tc rowSpan="8" hMerge="1">
                  <a:txBody>
                    <a:bodyPr/>
                    <a:lstStyle/>
                    <a:p>
                      <a:endParaRPr kumimoji="1" lang="ja-JP" altLang="en-US"/>
                    </a:p>
                  </a:txBody>
                  <a:tcPr/>
                </a:tc>
                <a:extLst>
                  <a:ext uri="{0D108BD9-81ED-4DB2-BD59-A6C34878D82A}">
                    <a16:rowId xmlns:a16="http://schemas.microsoft.com/office/drawing/2014/main" val="3739470547"/>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選手変更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121715114"/>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大会結果</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758868438"/>
                  </a:ext>
                </a:extLst>
              </a:tr>
              <a:tr h="281815">
                <a:tc gridSpan="2">
                  <a:txBody>
                    <a:bodyPr/>
                    <a:lstStyle/>
                    <a:p>
                      <a:pPr algn="l"/>
                      <a:r>
                        <a:rPr kumimoji="1" lang="ja-JP" altLang="en-US" sz="1200">
                          <a:solidFill>
                            <a:schemeClr val="accent2"/>
                          </a:solidFill>
                          <a:latin typeface="Meiryo UI" panose="020B0604030504040204" pitchFamily="34" charset="-128"/>
                          <a:ea typeface="Meiryo UI" panose="020B0604030504040204" pitchFamily="34" charset="-128"/>
                        </a:rPr>
                        <a:t>□ 大会履歴</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631511077"/>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少林寺拳法公式サイト</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4273159075"/>
                  </a:ext>
                </a:extLst>
              </a:tr>
              <a:tr h="281815">
                <a:tc gridSpan="2">
                  <a:txBody>
                    <a:bodyPr/>
                    <a:lstStyle/>
                    <a:p>
                      <a:pPr algn="l"/>
                      <a:r>
                        <a:rPr kumimoji="1" lang="ja-JP" altLang="en-US" sz="1200">
                          <a:solidFill>
                            <a:schemeClr val="accent1">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 少林寺拳法グループ</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3144071484"/>
                  </a:ext>
                </a:extLst>
              </a:tr>
              <a:tr h="281815">
                <a:tc gridSpan="2">
                  <a:txBody>
                    <a:bodyPr/>
                    <a:lstStyle/>
                    <a:p>
                      <a:pPr algn="l"/>
                      <a:r>
                        <a:rPr kumimoji="1" lang="ja-JP" altLang="en-US" sz="1200">
                          <a:solidFill>
                            <a:schemeClr val="accent4">
                              <a:lumMod val="20000"/>
                              <a:lumOff val="80000"/>
                            </a:schemeClr>
                          </a:solidFill>
                          <a:latin typeface="Meiryo UI" panose="020B0604030504040204" pitchFamily="34" charset="-128"/>
                          <a:ea typeface="Meiryo UI" panose="020B0604030504040204" pitchFamily="34" charset="-128"/>
                        </a:rPr>
                        <a:t>□</a:t>
                      </a:r>
                      <a:r>
                        <a:rPr kumimoji="1" lang="ja-JP" altLang="en-US" sz="1200">
                          <a:latin typeface="Meiryo UI" panose="020B0604030504040204" pitchFamily="34" charset="-128"/>
                          <a:ea typeface="Meiryo UI" panose="020B0604030504040204" pitchFamily="34" charset="-128"/>
                        </a:rPr>
                        <a:t> 埼玉県下 道院一覧</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1711386693"/>
                  </a:ext>
                </a:extLst>
              </a:tr>
              <a:tr h="1913571">
                <a:tc gridSpan="2">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gridSpan="5" v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tc hMerge="1" vMerge="1">
                  <a:txBody>
                    <a:bodyPr/>
                    <a:lstStyle/>
                    <a:p>
                      <a:endParaRPr kumimoji="1" lang="ja-JP" altLang="en-US"/>
                    </a:p>
                  </a:txBody>
                  <a:tcPr/>
                </a:tc>
                <a:extLst>
                  <a:ext uri="{0D108BD9-81ED-4DB2-BD59-A6C34878D82A}">
                    <a16:rowId xmlns:a16="http://schemas.microsoft.com/office/drawing/2014/main" val="243319900"/>
                  </a:ext>
                </a:extLst>
              </a:tr>
              <a:tr h="281815">
                <a:tc gridSpan="7">
                  <a:txBody>
                    <a:bodyPr/>
                    <a:lstStyle/>
                    <a:p>
                      <a:pPr algn="ct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Copyright © </a:t>
                      </a:r>
                      <a:r>
                        <a:rPr kumimoji="1" lang="ja-JP" altLang="ja-JP" sz="1200" b="1" i="0" kern="1200" cap="all">
                          <a:solidFill>
                            <a:schemeClr val="bg1"/>
                          </a:solidFill>
                          <a:effectLst/>
                          <a:latin typeface="Meiryo UI" panose="020B0604030504040204" pitchFamily="34" charset="-128"/>
                          <a:ea typeface="Meiryo UI" panose="020B0604030504040204" pitchFamily="34" charset="-128"/>
                          <a:cs typeface="+mn-cs"/>
                        </a:rPr>
                        <a:t>SAITAMA SHORINJI KEMPO.</a:t>
                      </a:r>
                      <a:r>
                        <a:rPr kumimoji="1" lang="ja-JP" altLang="ja-JP" sz="1200" b="0" i="0" kern="1200" cap="all">
                          <a:solidFill>
                            <a:schemeClr val="bg1"/>
                          </a:solidFill>
                          <a:effectLst/>
                          <a:latin typeface="Meiryo UI" panose="020B0604030504040204" pitchFamily="34" charset="-128"/>
                          <a:ea typeface="Meiryo UI" panose="020B0604030504040204" pitchFamily="34" charset="-128"/>
                          <a:cs typeface="+mn-cs"/>
                        </a:rPr>
                        <a:t> All rights reserved.</a:t>
                      </a:r>
                      <a:endParaRPr kumimoji="1" lang="ja-JP" altLang="en-US" sz="1050">
                        <a:solidFill>
                          <a:schemeClr val="bg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kumimoji="1" lang="ja-JP" altLang="en-US"/>
                    </a:p>
                  </a:txBody>
                  <a:tcPr/>
                </a:tc>
                <a:tc hMerge="1">
                  <a:txBody>
                    <a:bodyPr/>
                    <a:lstStyle/>
                    <a:p>
                      <a:pPr algn="ctr"/>
                      <a:endParaRPr kumimoji="1" lang="ja-JP" altLang="en-US" sz="1050">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543735368"/>
                  </a:ext>
                </a:extLst>
              </a:tr>
            </a:tbl>
          </a:graphicData>
        </a:graphic>
      </p:graphicFrame>
      <p:sp>
        <p:nvSpPr>
          <p:cNvPr id="16" name="角丸四角形 15">
            <a:extLst>
              <a:ext uri="{FF2B5EF4-FFF2-40B4-BE49-F238E27FC236}">
                <a16:creationId xmlns:a16="http://schemas.microsoft.com/office/drawing/2014/main" id="{69741314-6776-B575-CA42-A7D368D826A6}"/>
              </a:ext>
            </a:extLst>
          </p:cNvPr>
          <p:cNvSpPr/>
          <p:nvPr/>
        </p:nvSpPr>
        <p:spPr>
          <a:xfrm>
            <a:off x="2205318" y="1000461"/>
            <a:ext cx="376517" cy="376517"/>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6">
            <a:extLst>
              <a:ext uri="{FF2B5EF4-FFF2-40B4-BE49-F238E27FC236}">
                <a16:creationId xmlns:a16="http://schemas.microsoft.com/office/drawing/2014/main" id="{DF38CCE3-3D61-7E32-18B0-E2A2C48FC4DE}"/>
              </a:ext>
            </a:extLst>
          </p:cNvPr>
          <p:cNvSpPr/>
          <p:nvPr/>
        </p:nvSpPr>
        <p:spPr>
          <a:xfrm>
            <a:off x="2162288" y="2318856"/>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角丸四角形 17">
            <a:extLst>
              <a:ext uri="{FF2B5EF4-FFF2-40B4-BE49-F238E27FC236}">
                <a16:creationId xmlns:a16="http://schemas.microsoft.com/office/drawing/2014/main" id="{0CB2A3F0-FA90-76F9-2ADD-0024B7303202}"/>
              </a:ext>
            </a:extLst>
          </p:cNvPr>
          <p:cNvSpPr/>
          <p:nvPr/>
        </p:nvSpPr>
        <p:spPr>
          <a:xfrm>
            <a:off x="2162288" y="2600498"/>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角丸四角形 18">
            <a:extLst>
              <a:ext uri="{FF2B5EF4-FFF2-40B4-BE49-F238E27FC236}">
                <a16:creationId xmlns:a16="http://schemas.microsoft.com/office/drawing/2014/main" id="{83F46113-6DE2-AE94-5557-DAA1355532F5}"/>
              </a:ext>
            </a:extLst>
          </p:cNvPr>
          <p:cNvSpPr/>
          <p:nvPr/>
        </p:nvSpPr>
        <p:spPr>
          <a:xfrm>
            <a:off x="2162288" y="2882140"/>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角丸四角形 19">
            <a:extLst>
              <a:ext uri="{FF2B5EF4-FFF2-40B4-BE49-F238E27FC236}">
                <a16:creationId xmlns:a16="http://schemas.microsoft.com/office/drawing/2014/main" id="{FC3860BA-CD20-B464-79D4-6BADC139E813}"/>
              </a:ext>
            </a:extLst>
          </p:cNvPr>
          <p:cNvSpPr/>
          <p:nvPr/>
        </p:nvSpPr>
        <p:spPr>
          <a:xfrm>
            <a:off x="2162288" y="3163782"/>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角丸四角形 20">
            <a:extLst>
              <a:ext uri="{FF2B5EF4-FFF2-40B4-BE49-F238E27FC236}">
                <a16:creationId xmlns:a16="http://schemas.microsoft.com/office/drawing/2014/main" id="{DD9562DB-7277-A322-3D2A-DD5A9D90A7CC}"/>
              </a:ext>
            </a:extLst>
          </p:cNvPr>
          <p:cNvSpPr/>
          <p:nvPr/>
        </p:nvSpPr>
        <p:spPr>
          <a:xfrm>
            <a:off x="2162288" y="3445424"/>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角丸四角形 21">
            <a:extLst>
              <a:ext uri="{FF2B5EF4-FFF2-40B4-BE49-F238E27FC236}">
                <a16:creationId xmlns:a16="http://schemas.microsoft.com/office/drawing/2014/main" id="{ABD5747B-FDC1-D287-C4BE-CD0D4509D843}"/>
              </a:ext>
            </a:extLst>
          </p:cNvPr>
          <p:cNvSpPr/>
          <p:nvPr/>
        </p:nvSpPr>
        <p:spPr>
          <a:xfrm>
            <a:off x="2162288" y="3727065"/>
            <a:ext cx="2255166" cy="206827"/>
          </a:xfrm>
          <a:prstGeom prst="round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DF330A97-C9F0-7D0B-F69B-867F5F6F845B}"/>
              </a:ext>
            </a:extLst>
          </p:cNvPr>
          <p:cNvSpPr/>
          <p:nvPr/>
        </p:nvSpPr>
        <p:spPr>
          <a:xfrm>
            <a:off x="2162288" y="2037214"/>
            <a:ext cx="2255166" cy="206827"/>
          </a:xfrm>
          <a:prstGeom prst="roundRect">
            <a:avLst/>
          </a:prstGeom>
          <a:noFill/>
          <a:ln w="31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2" name="表 1">
            <a:extLst>
              <a:ext uri="{FF2B5EF4-FFF2-40B4-BE49-F238E27FC236}">
                <a16:creationId xmlns:a16="http://schemas.microsoft.com/office/drawing/2014/main" id="{11EA3E1D-CCDD-B7B9-D001-6E17DB6CB391}"/>
              </a:ext>
            </a:extLst>
          </p:cNvPr>
          <p:cNvGraphicFramePr>
            <a:graphicFrameLocks noGrp="1"/>
          </p:cNvGraphicFramePr>
          <p:nvPr>
            <p:extLst>
              <p:ext uri="{D42A27DB-BD31-4B8C-83A1-F6EECF244321}">
                <p14:modId xmlns:p14="http://schemas.microsoft.com/office/powerpoint/2010/main" val="3598238478"/>
              </p:ext>
            </p:extLst>
          </p:nvPr>
        </p:nvGraphicFramePr>
        <p:xfrm>
          <a:off x="4454166" y="1797781"/>
          <a:ext cx="5630530" cy="3946311"/>
        </p:xfrm>
        <a:graphic>
          <a:graphicData uri="http://schemas.openxmlformats.org/drawingml/2006/table">
            <a:tbl>
              <a:tblPr firstRow="1" bandRow="1">
                <a:tableStyleId>{5C22544A-7EE6-4342-B048-85BDC9FD1C3A}</a:tableStyleId>
              </a:tblPr>
              <a:tblGrid>
                <a:gridCol w="1172095">
                  <a:extLst>
                    <a:ext uri="{9D8B030D-6E8A-4147-A177-3AD203B41FA5}">
                      <a16:colId xmlns:a16="http://schemas.microsoft.com/office/drawing/2014/main" val="2657569459"/>
                    </a:ext>
                  </a:extLst>
                </a:gridCol>
                <a:gridCol w="4458435">
                  <a:extLst>
                    <a:ext uri="{9D8B030D-6E8A-4147-A177-3AD203B41FA5}">
                      <a16:colId xmlns:a16="http://schemas.microsoft.com/office/drawing/2014/main" val="1163876433"/>
                    </a:ext>
                  </a:extLst>
                </a:gridCol>
              </a:tblGrid>
              <a:tr h="438479">
                <a:tc gridSpan="2">
                  <a:txBody>
                    <a:bodyPr/>
                    <a:lstStyle/>
                    <a:p>
                      <a:pPr algn="l"/>
                      <a:r>
                        <a:rPr kumimoji="1" lang="ja-JP" altLang="en-US" sz="1050" b="0">
                          <a:solidFill>
                            <a:schemeClr val="tx1"/>
                          </a:solidFill>
                          <a:latin typeface="Meiryo UI" panose="020B0604030504040204" pitchFamily="34" charset="-128"/>
                          <a:ea typeface="Meiryo UI" panose="020B0604030504040204" pitchFamily="34" charset="-128"/>
                        </a:rPr>
                        <a:t>お名前</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3670131323"/>
                  </a:ext>
                </a:extLst>
              </a:tr>
              <a:tr h="4384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ふりがな</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3077739"/>
                  </a:ext>
                </a:extLst>
              </a:tr>
              <a:tr h="438479">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お問い合わせ種類</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2888871000"/>
                  </a:ext>
                </a:extLst>
              </a:tr>
              <a:tr h="438479">
                <a:tc>
                  <a:txBody>
                    <a:bodyPr/>
                    <a:lstStyle/>
                    <a:p>
                      <a:r>
                        <a:rPr kumimoji="1" lang="ja-JP" altLang="en-US" sz="1050" b="0">
                          <a:solidFill>
                            <a:schemeClr val="tx1"/>
                          </a:solidFill>
                          <a:latin typeface="Meiryo UI" panose="020B0604030504040204" pitchFamily="34" charset="-128"/>
                          <a:ea typeface="Meiryo UI" panose="020B0604030504040204" pitchFamily="34" charset="-128"/>
                        </a:rPr>
                        <a:t>メールアドレス</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1050" b="0">
                        <a:solidFill>
                          <a:schemeClr val="tx1"/>
                        </a:solidFill>
                        <a:latin typeface="Meiryo UI" panose="020B0604030504040204" pitchFamily="34" charset="-128"/>
                        <a:ea typeface="Meiryo UI" panose="020B0604030504040204" pitchFamily="34" charset="-128"/>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486132"/>
                  </a:ext>
                </a:extLst>
              </a:tr>
              <a:tr h="438479">
                <a:tc gridSpan="2">
                  <a:txBody>
                    <a:bodyPr/>
                    <a:lstStyle/>
                    <a:p>
                      <a:r>
                        <a:rPr kumimoji="1" lang="ja-JP" altLang="en-US" sz="1050" b="0">
                          <a:solidFill>
                            <a:schemeClr val="tx1"/>
                          </a:solidFill>
                          <a:latin typeface="Meiryo UI" panose="020B0604030504040204" pitchFamily="34" charset="-128"/>
                          <a:ea typeface="Meiryo UI" panose="020B0604030504040204" pitchFamily="34" charset="-128"/>
                        </a:rPr>
                        <a:t>郵便番号</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lnT w="12700" cmpd="sng">
                      <a:noFill/>
                    </a:lnT>
                  </a:tcPr>
                </a:tc>
                <a:extLst>
                  <a:ext uri="{0D108BD9-81ED-4DB2-BD59-A6C34878D82A}">
                    <a16:rowId xmlns:a16="http://schemas.microsoft.com/office/drawing/2014/main" val="885815198"/>
                  </a:ext>
                </a:extLst>
              </a:tr>
              <a:tr h="438479">
                <a:tc gridSpan="2">
                  <a:txBody>
                    <a:bodyPr/>
                    <a:lstStyle/>
                    <a:p>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住所</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12700" cmpd="sng">
                      <a:noFill/>
                    </a:lnL>
                  </a:tcPr>
                </a:tc>
                <a:extLst>
                  <a:ext uri="{0D108BD9-81ED-4DB2-BD59-A6C34878D82A}">
                    <a16:rowId xmlns:a16="http://schemas.microsoft.com/office/drawing/2014/main" val="504450589"/>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題名</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884169059"/>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kern="1200">
                          <a:solidFill>
                            <a:schemeClr val="dk1"/>
                          </a:solidFill>
                          <a:effectLst/>
                          <a:latin typeface="Meiryo UI" panose="020B0604030504040204" pitchFamily="34" charset="-128"/>
                          <a:ea typeface="Meiryo UI" panose="020B0604030504040204" pitchFamily="34" charset="-128"/>
                          <a:cs typeface="+mn-cs"/>
                        </a:rPr>
                        <a:t>メッセージ本文</a:t>
                      </a: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2579728516"/>
                  </a:ext>
                </a:extLst>
              </a:tr>
              <a:tr h="438479">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ja-JP" sz="1050" b="0" i="0" kern="1200">
                        <a:solidFill>
                          <a:schemeClr val="dk1"/>
                        </a:solidFill>
                        <a:effectLst/>
                        <a:latin typeface="Meiryo UI" panose="020B0604030504040204" pitchFamily="34" charset="-128"/>
                        <a:ea typeface="Meiryo UI" panose="020B0604030504040204" pitchFamily="34" charset="-128"/>
                        <a:cs typeface="+mn-cs"/>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tc>
                <a:extLst>
                  <a:ext uri="{0D108BD9-81ED-4DB2-BD59-A6C34878D82A}">
                    <a16:rowId xmlns:a16="http://schemas.microsoft.com/office/drawing/2014/main" val="1797011819"/>
                  </a:ext>
                </a:extLst>
              </a:tr>
            </a:tbl>
          </a:graphicData>
        </a:graphic>
      </p:graphicFrame>
    </p:spTree>
    <p:extLst>
      <p:ext uri="{BB962C8B-B14F-4D97-AF65-F5344CB8AC3E}">
        <p14:creationId xmlns:p14="http://schemas.microsoft.com/office/powerpoint/2010/main" val="31926036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1056</TotalTime>
  <Words>3916</Words>
  <Application>Microsoft Macintosh PowerPoint</Application>
  <PresentationFormat>ワイド画面</PresentationFormat>
  <Paragraphs>914</Paragraphs>
  <Slides>29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29</vt:i4>
      </vt:variant>
    </vt:vector>
  </HeadingPairs>
  <TitlesOfParts>
    <vt:vector size="34" baseType="lpstr">
      <vt:lpstr>Meiryo UI</vt:lpstr>
      <vt:lpstr>游ゴシック</vt:lpstr>
      <vt:lpstr>游ゴシック Light</vt:lpstr>
      <vt:lpstr>Arial</vt:lpstr>
      <vt:lpstr>Office テーマ</vt:lpstr>
      <vt:lpstr>埼玉鶴瀬道院 志木スポーツ少年団  統合サイト構築 画面設計書</vt:lpstr>
      <vt:lpstr>PowerPoint プレゼンテーション</vt:lpstr>
      <vt:lpstr>メニューマトリクス</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吉野 敏之</dc:creator>
  <cp:lastModifiedBy>吉野 敏之</cp:lastModifiedBy>
  <cp:revision>1</cp:revision>
  <dcterms:created xsi:type="dcterms:W3CDTF">2026-09-25T12:22:00Z</dcterms:created>
  <dcterms:modified xsi:type="dcterms:W3CDTF">2026-09-26T05:58:35Z</dcterms:modified>
</cp:coreProperties>
</file>